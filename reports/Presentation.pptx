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548640"/>
            <a:ext cx="10360152" cy="548640"/>
          </a:xfrm>
          <a:prstGeom prst="rect">
            <a:avLst/>
          </a:prstGeom>
          <a:noFill/>
        </p:spPr>
        <p:txBody>
          <a:bodyPr wrap="square">
            <a:spAutoFit/>
          </a:bodyPr>
          <a:lstStyle/>
          <a:p>
            <a:pPr algn="ctr"/>
            <a:r>
              <a:rPr sz="1400" b="1" i="0">
                <a:solidFill>
                  <a:srgbClr val="F9A825"/>
                </a:solidFill>
              </a:rPr>
              <a:t>📊  BLUESTOCK FINTECH</a:t>
            </a:r>
          </a:p>
        </p:txBody>
      </p:sp>
      <p:sp>
        <p:nvSpPr>
          <p:cNvPr id="5" name="TextBox 4"/>
          <p:cNvSpPr txBox="1"/>
          <p:nvPr/>
        </p:nvSpPr>
        <p:spPr>
          <a:xfrm>
            <a:off x="731520" y="1280160"/>
            <a:ext cx="10725912" cy="1097280"/>
          </a:xfrm>
          <a:prstGeom prst="rect">
            <a:avLst/>
          </a:prstGeom>
          <a:noFill/>
        </p:spPr>
        <p:txBody>
          <a:bodyPr wrap="square">
            <a:spAutoFit/>
          </a:bodyPr>
          <a:lstStyle/>
          <a:p>
            <a:pPr algn="ctr"/>
            <a:r>
              <a:rPr sz="3600" b="1" i="0">
                <a:solidFill>
                  <a:srgbClr val="FFFFFF"/>
                </a:solidFill>
              </a:rPr>
              <a:t>Mutual Fund Analytics Platform</a:t>
            </a:r>
          </a:p>
        </p:txBody>
      </p:sp>
      <p:sp>
        <p:nvSpPr>
          <p:cNvPr id="6" name="TextBox 5"/>
          <p:cNvSpPr txBox="1"/>
          <p:nvPr/>
        </p:nvSpPr>
        <p:spPr>
          <a:xfrm>
            <a:off x="914400" y="2514600"/>
            <a:ext cx="10360152" cy="640080"/>
          </a:xfrm>
          <a:prstGeom prst="rect">
            <a:avLst/>
          </a:prstGeom>
          <a:noFill/>
        </p:spPr>
        <p:txBody>
          <a:bodyPr wrap="square">
            <a:spAutoFit/>
          </a:bodyPr>
          <a:lstStyle/>
          <a:p>
            <a:pPr algn="ctr"/>
            <a:r>
              <a:rPr sz="1600" b="0" i="1">
                <a:solidFill>
                  <a:srgbClr val="CADCFC"/>
                </a:solidFill>
              </a:rPr>
              <a:t>End-to-End Data Engineering, ETL Pipeline &amp; Interactive Dashboard</a:t>
            </a:r>
          </a:p>
        </p:txBody>
      </p:sp>
      <p:sp>
        <p:nvSpPr>
          <p:cNvPr id="7" name="Rectangle 6"/>
          <p:cNvSpPr/>
          <p:nvPr/>
        </p:nvSpPr>
        <p:spPr>
          <a:xfrm>
            <a:off x="3200400" y="3337560"/>
            <a:ext cx="5788152" cy="36576"/>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3520440"/>
            <a:ext cx="10360152" cy="365760"/>
          </a:xfrm>
          <a:prstGeom prst="rect">
            <a:avLst/>
          </a:prstGeom>
          <a:noFill/>
        </p:spPr>
        <p:txBody>
          <a:bodyPr wrap="square">
            <a:spAutoFit/>
          </a:bodyPr>
          <a:lstStyle/>
          <a:p>
            <a:pPr algn="ctr"/>
            <a:r>
              <a:rPr sz="1100" b="0" i="0">
                <a:solidFill>
                  <a:srgbClr val="546E7A"/>
                </a:solidFill>
              </a:rPr>
              <a:t>Data Analyst Internship  ·  Capstone Project  ·  Cohort 2025</a:t>
            </a:r>
          </a:p>
        </p:txBody>
      </p:sp>
      <p:sp>
        <p:nvSpPr>
          <p:cNvPr id="9" name="TextBox 8"/>
          <p:cNvSpPr txBox="1"/>
          <p:nvPr/>
        </p:nvSpPr>
        <p:spPr>
          <a:xfrm>
            <a:off x="914400" y="3931920"/>
            <a:ext cx="10360152" cy="365760"/>
          </a:xfrm>
          <a:prstGeom prst="rect">
            <a:avLst/>
          </a:prstGeom>
          <a:noFill/>
        </p:spPr>
        <p:txBody>
          <a:bodyPr wrap="square">
            <a:spAutoFit/>
          </a:bodyPr>
          <a:lstStyle/>
          <a:p>
            <a:pPr algn="ctr"/>
            <a:r>
              <a:rPr sz="1100" b="0" i="0">
                <a:solidFill>
                  <a:srgbClr val="546E7A"/>
                </a:solidFill>
              </a:rPr>
              <a:t>Riddhima Raj  ·  Manipal University Jaipur  ·  B.Tech CSE (IoT)</a:t>
            </a:r>
          </a:p>
        </p:txBody>
      </p:sp>
      <p:sp>
        <p:nvSpPr>
          <p:cNvPr id="10" name="TextBox 9"/>
          <p:cNvSpPr txBox="1"/>
          <p:nvPr/>
        </p:nvSpPr>
        <p:spPr>
          <a:xfrm>
            <a:off x="914400" y="4343400"/>
            <a:ext cx="10360152" cy="365760"/>
          </a:xfrm>
          <a:prstGeom prst="rect">
            <a:avLst/>
          </a:prstGeom>
          <a:noFill/>
        </p:spPr>
        <p:txBody>
          <a:bodyPr wrap="square">
            <a:spAutoFit/>
          </a:bodyPr>
          <a:lstStyle/>
          <a:p>
            <a:pPr algn="ctr"/>
            <a:r>
              <a:rPr sz="1100" b="0" i="0">
                <a:solidFill>
                  <a:srgbClr val="546E7A"/>
                </a:solidFill>
              </a:rPr>
              <a:t>Data: AMFI India · mfapi.in · NSE/BSE · June–July 2026</a:t>
            </a:r>
          </a:p>
        </p:txBody>
      </p:sp>
      <p:sp>
        <p:nvSpPr>
          <p:cNvPr id="11" name="Rectangle 10"/>
          <p:cNvSpPr/>
          <p:nvPr/>
        </p:nvSpPr>
        <p:spPr>
          <a:xfrm>
            <a:off x="246888" y="5486400"/>
            <a:ext cx="2194560" cy="100584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10896" y="5559552"/>
            <a:ext cx="2066543" cy="553212"/>
          </a:xfrm>
          <a:prstGeom prst="rect">
            <a:avLst/>
          </a:prstGeom>
          <a:noFill/>
        </p:spPr>
        <p:txBody>
          <a:bodyPr wrap="square">
            <a:spAutoFit/>
          </a:bodyPr>
          <a:lstStyle/>
          <a:p>
            <a:pPr algn="ctr"/>
            <a:r>
              <a:rPr sz="2000" b="1" i="0">
                <a:solidFill>
                  <a:srgbClr val="FFFFFF"/>
                </a:solidFill>
              </a:rPr>
              <a:t>40</a:t>
            </a:r>
          </a:p>
        </p:txBody>
      </p:sp>
      <p:sp>
        <p:nvSpPr>
          <p:cNvPr id="13" name="TextBox 12"/>
          <p:cNvSpPr txBox="1"/>
          <p:nvPr/>
        </p:nvSpPr>
        <p:spPr>
          <a:xfrm>
            <a:off x="310896" y="6069787"/>
            <a:ext cx="2066543" cy="382219"/>
          </a:xfrm>
          <a:prstGeom prst="rect">
            <a:avLst/>
          </a:prstGeom>
          <a:noFill/>
        </p:spPr>
        <p:txBody>
          <a:bodyPr wrap="square">
            <a:spAutoFit/>
          </a:bodyPr>
          <a:lstStyle/>
          <a:p>
            <a:pPr algn="ctr"/>
            <a:r>
              <a:rPr sz="900" b="0" i="0">
                <a:solidFill>
                  <a:srgbClr val="CADCFC"/>
                </a:solidFill>
              </a:rPr>
              <a:t>Schemes</a:t>
            </a:r>
          </a:p>
        </p:txBody>
      </p:sp>
      <p:sp>
        <p:nvSpPr>
          <p:cNvPr id="14" name="Rectangle 13"/>
          <p:cNvSpPr/>
          <p:nvPr/>
        </p:nvSpPr>
        <p:spPr>
          <a:xfrm>
            <a:off x="2606040" y="5486400"/>
            <a:ext cx="2194560" cy="100584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70048" y="5559552"/>
            <a:ext cx="2066543" cy="553212"/>
          </a:xfrm>
          <a:prstGeom prst="rect">
            <a:avLst/>
          </a:prstGeom>
          <a:noFill/>
        </p:spPr>
        <p:txBody>
          <a:bodyPr wrap="square">
            <a:spAutoFit/>
          </a:bodyPr>
          <a:lstStyle/>
          <a:p>
            <a:pPr algn="ctr"/>
            <a:r>
              <a:rPr sz="2000" b="1" i="0">
                <a:solidFill>
                  <a:srgbClr val="FFFFFF"/>
                </a:solidFill>
              </a:rPr>
              <a:t>10</a:t>
            </a:r>
          </a:p>
        </p:txBody>
      </p:sp>
      <p:sp>
        <p:nvSpPr>
          <p:cNvPr id="16" name="TextBox 15"/>
          <p:cNvSpPr txBox="1"/>
          <p:nvPr/>
        </p:nvSpPr>
        <p:spPr>
          <a:xfrm>
            <a:off x="2670048" y="6069787"/>
            <a:ext cx="2066543" cy="382219"/>
          </a:xfrm>
          <a:prstGeom prst="rect">
            <a:avLst/>
          </a:prstGeom>
          <a:noFill/>
        </p:spPr>
        <p:txBody>
          <a:bodyPr wrap="square">
            <a:spAutoFit/>
          </a:bodyPr>
          <a:lstStyle/>
          <a:p>
            <a:pPr algn="ctr"/>
            <a:r>
              <a:rPr sz="900" b="0" i="0">
                <a:solidFill>
                  <a:srgbClr val="CADCFC"/>
                </a:solidFill>
              </a:rPr>
              <a:t>AMCs</a:t>
            </a:r>
          </a:p>
        </p:txBody>
      </p:sp>
      <p:sp>
        <p:nvSpPr>
          <p:cNvPr id="17" name="Rectangle 16"/>
          <p:cNvSpPr/>
          <p:nvPr/>
        </p:nvSpPr>
        <p:spPr>
          <a:xfrm>
            <a:off x="4965192" y="5486400"/>
            <a:ext cx="2194560" cy="100584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0" y="5559552"/>
            <a:ext cx="2066543" cy="553212"/>
          </a:xfrm>
          <a:prstGeom prst="rect">
            <a:avLst/>
          </a:prstGeom>
          <a:noFill/>
        </p:spPr>
        <p:txBody>
          <a:bodyPr wrap="square">
            <a:spAutoFit/>
          </a:bodyPr>
          <a:lstStyle/>
          <a:p>
            <a:pPr algn="ctr"/>
            <a:r>
              <a:rPr sz="2000" b="1" i="0">
                <a:solidFill>
                  <a:srgbClr val="FFFFFF"/>
                </a:solidFill>
              </a:rPr>
              <a:t>46K+</a:t>
            </a:r>
          </a:p>
        </p:txBody>
      </p:sp>
      <p:sp>
        <p:nvSpPr>
          <p:cNvPr id="19" name="TextBox 18"/>
          <p:cNvSpPr txBox="1"/>
          <p:nvPr/>
        </p:nvSpPr>
        <p:spPr>
          <a:xfrm>
            <a:off x="5029200" y="6069787"/>
            <a:ext cx="2066543" cy="382219"/>
          </a:xfrm>
          <a:prstGeom prst="rect">
            <a:avLst/>
          </a:prstGeom>
          <a:noFill/>
        </p:spPr>
        <p:txBody>
          <a:bodyPr wrap="square">
            <a:spAutoFit/>
          </a:bodyPr>
          <a:lstStyle/>
          <a:p>
            <a:pPr algn="ctr"/>
            <a:r>
              <a:rPr sz="900" b="0" i="0">
                <a:solidFill>
                  <a:srgbClr val="CADCFC"/>
                </a:solidFill>
              </a:rPr>
              <a:t>NAV Rows</a:t>
            </a:r>
          </a:p>
        </p:txBody>
      </p:sp>
      <p:sp>
        <p:nvSpPr>
          <p:cNvPr id="20" name="Rectangle 19"/>
          <p:cNvSpPr/>
          <p:nvPr/>
        </p:nvSpPr>
        <p:spPr>
          <a:xfrm>
            <a:off x="7324344" y="5486400"/>
            <a:ext cx="2194560" cy="100584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8352" y="5559552"/>
            <a:ext cx="2066543" cy="553212"/>
          </a:xfrm>
          <a:prstGeom prst="rect">
            <a:avLst/>
          </a:prstGeom>
          <a:noFill/>
        </p:spPr>
        <p:txBody>
          <a:bodyPr wrap="square">
            <a:spAutoFit/>
          </a:bodyPr>
          <a:lstStyle/>
          <a:p>
            <a:pPr algn="ctr"/>
            <a:r>
              <a:rPr sz="2000" b="1" i="0">
                <a:solidFill>
                  <a:srgbClr val="FFFFFF"/>
                </a:solidFill>
              </a:rPr>
              <a:t>32K</a:t>
            </a:r>
          </a:p>
        </p:txBody>
      </p:sp>
      <p:sp>
        <p:nvSpPr>
          <p:cNvPr id="22" name="TextBox 21"/>
          <p:cNvSpPr txBox="1"/>
          <p:nvPr/>
        </p:nvSpPr>
        <p:spPr>
          <a:xfrm>
            <a:off x="7388352" y="6069787"/>
            <a:ext cx="2066543" cy="382219"/>
          </a:xfrm>
          <a:prstGeom prst="rect">
            <a:avLst/>
          </a:prstGeom>
          <a:noFill/>
        </p:spPr>
        <p:txBody>
          <a:bodyPr wrap="square">
            <a:spAutoFit/>
          </a:bodyPr>
          <a:lstStyle/>
          <a:p>
            <a:pPr algn="ctr"/>
            <a:r>
              <a:rPr sz="900" b="0" i="0">
                <a:solidFill>
                  <a:srgbClr val="CADCFC"/>
                </a:solidFill>
              </a:rPr>
              <a:t>Transactions</a:t>
            </a:r>
          </a:p>
        </p:txBody>
      </p:sp>
      <p:sp>
        <p:nvSpPr>
          <p:cNvPr id="23" name="Rectangle 22"/>
          <p:cNvSpPr/>
          <p:nvPr/>
        </p:nvSpPr>
        <p:spPr>
          <a:xfrm>
            <a:off x="9683496" y="5486400"/>
            <a:ext cx="2194560" cy="100584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47504" y="5559552"/>
            <a:ext cx="2066543" cy="553212"/>
          </a:xfrm>
          <a:prstGeom prst="rect">
            <a:avLst/>
          </a:prstGeom>
          <a:noFill/>
        </p:spPr>
        <p:txBody>
          <a:bodyPr wrap="square">
            <a:spAutoFit/>
          </a:bodyPr>
          <a:lstStyle/>
          <a:p>
            <a:pPr algn="ctr"/>
            <a:r>
              <a:rPr sz="2000" b="1" i="0">
                <a:solidFill>
                  <a:srgbClr val="FFFFFF"/>
                </a:solidFill>
              </a:rPr>
              <a:t>₹81L Cr</a:t>
            </a:r>
          </a:p>
        </p:txBody>
      </p:sp>
      <p:sp>
        <p:nvSpPr>
          <p:cNvPr id="25" name="TextBox 24"/>
          <p:cNvSpPr txBox="1"/>
          <p:nvPr/>
        </p:nvSpPr>
        <p:spPr>
          <a:xfrm>
            <a:off x="9747504" y="6069787"/>
            <a:ext cx="2066543" cy="382219"/>
          </a:xfrm>
          <a:prstGeom prst="rect">
            <a:avLst/>
          </a:prstGeom>
          <a:noFill/>
        </p:spPr>
        <p:txBody>
          <a:bodyPr wrap="square">
            <a:spAutoFit/>
          </a:bodyPr>
          <a:lstStyle/>
          <a:p>
            <a:pPr algn="ctr"/>
            <a:r>
              <a:rPr sz="900" b="0" i="0">
                <a:solidFill>
                  <a:srgbClr val="CADCFC"/>
                </a:solidFill>
              </a:rPr>
              <a:t>Industry AUM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411480"/>
          </a:xfrm>
          <a:prstGeom prst="rect">
            <a:avLst/>
          </a:prstGeom>
          <a:noFill/>
        </p:spPr>
        <p:txBody>
          <a:bodyPr wrap="square">
            <a:spAutoFit/>
          </a:bodyPr>
          <a:lstStyle/>
          <a:p>
            <a:pPr algn="l"/>
            <a:r>
              <a:rPr sz="2000" b="1" i="0">
                <a:solidFill>
                  <a:srgbClr val="FFFFFF"/>
                </a:solidFill>
              </a:rPr>
              <a:t>Problem Statement &amp; Objectives</a:t>
            </a:r>
          </a:p>
        </p:txBody>
      </p:sp>
      <p:sp>
        <p:nvSpPr>
          <p:cNvPr id="4" name="Rectangle 3"/>
          <p:cNvSpPr/>
          <p:nvPr/>
        </p:nvSpPr>
        <p:spPr>
          <a:xfrm>
            <a:off x="182880" y="685800"/>
            <a:ext cx="5669280"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685800"/>
            <a:ext cx="5669280" cy="3657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31520"/>
            <a:ext cx="5486400" cy="320040"/>
          </a:xfrm>
          <a:prstGeom prst="rect">
            <a:avLst/>
          </a:prstGeom>
          <a:noFill/>
        </p:spPr>
        <p:txBody>
          <a:bodyPr wrap="square">
            <a:spAutoFit/>
          </a:bodyPr>
          <a:lstStyle/>
          <a:p>
            <a:pPr algn="l"/>
            <a:r>
              <a:rPr sz="1300" b="1" i="0">
                <a:solidFill>
                  <a:srgbClr val="FFFFFF"/>
                </a:solidFill>
              </a:rPr>
              <a:t>📌  5 Business Problems</a:t>
            </a:r>
          </a:p>
        </p:txBody>
      </p:sp>
      <p:sp>
        <p:nvSpPr>
          <p:cNvPr id="7" name="TextBox 6"/>
          <p:cNvSpPr txBox="1"/>
          <p:nvPr/>
        </p:nvSpPr>
        <p:spPr>
          <a:xfrm>
            <a:off x="274320" y="1143000"/>
            <a:ext cx="5486400" cy="5303520"/>
          </a:xfrm>
          <a:prstGeom prst="rect">
            <a:avLst/>
          </a:prstGeom>
          <a:noFill/>
        </p:spPr>
        <p:txBody>
          <a:bodyPr wrap="square">
            <a:spAutoFit/>
          </a:bodyPr>
          <a:lstStyle/>
          <a:p>
            <a:pPr>
              <a:spcBef>
                <a:spcPts val="300"/>
              </a:spcBef>
            </a:pPr>
            <a:r>
              <a:rPr sz="1150">
                <a:solidFill>
                  <a:srgbClr val="1A1A2E"/>
                </a:solidFill>
              </a:rPr>
              <a:t>▸  P1: Data fragmentation — NAV, AUM &amp; SIP data in different formats</a:t>
            </a:r>
          </a:p>
          <a:p>
            <a:pPr>
              <a:spcBef>
                <a:spcPts val="300"/>
              </a:spcBef>
            </a:pPr>
            <a:r>
              <a:rPr sz="1150">
                <a:solidFill>
                  <a:srgbClr val="1A1A2E"/>
                </a:solidFill>
              </a:rPr>
              <a:t>▸  P2: No unified risk-adjusted performance comparison tool</a:t>
            </a:r>
          </a:p>
          <a:p>
            <a:pPr>
              <a:spcBef>
                <a:spcPts val="300"/>
              </a:spcBef>
            </a:pPr>
            <a:r>
              <a:rPr sz="1150">
                <a:solidFill>
                  <a:srgbClr val="1A1A2E"/>
                </a:solidFill>
              </a:rPr>
              <a:t>▸  P3: Retail investors can't track fund vs benchmark performance</a:t>
            </a:r>
          </a:p>
          <a:p>
            <a:pPr>
              <a:spcBef>
                <a:spcPts val="300"/>
              </a:spcBef>
            </a:pPr>
            <a:r>
              <a:rPr sz="1150">
                <a:solidFill>
                  <a:srgbClr val="1A1A2E"/>
                </a:solidFill>
              </a:rPr>
              <a:t>▸  P4: AMCs lack demographic insight into investor behaviour patterns</a:t>
            </a:r>
          </a:p>
          <a:p>
            <a:pPr>
              <a:spcBef>
                <a:spcPts val="300"/>
              </a:spcBef>
            </a:pPr>
            <a:r>
              <a:rPr sz="1150">
                <a:solidFill>
                  <a:srgbClr val="1A1A2E"/>
                </a:solidFill>
              </a:rPr>
              <a:t>▸  P5: Monthly static PDF reports take days to prepare for stakeholders</a:t>
            </a:r>
          </a:p>
        </p:txBody>
      </p:sp>
      <p:sp>
        <p:nvSpPr>
          <p:cNvPr id="8" name="Rectangle 7"/>
          <p:cNvSpPr/>
          <p:nvPr/>
        </p:nvSpPr>
        <p:spPr>
          <a:xfrm>
            <a:off x="6336792" y="685800"/>
            <a:ext cx="5669280" cy="594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336792" y="685800"/>
            <a:ext cx="5669280" cy="36576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28232" y="731520"/>
            <a:ext cx="5486400" cy="320040"/>
          </a:xfrm>
          <a:prstGeom prst="rect">
            <a:avLst/>
          </a:prstGeom>
          <a:noFill/>
        </p:spPr>
        <p:txBody>
          <a:bodyPr wrap="square">
            <a:spAutoFit/>
          </a:bodyPr>
          <a:lstStyle/>
          <a:p>
            <a:pPr algn="l"/>
            <a:r>
              <a:rPr sz="1300" b="1" i="0">
                <a:solidFill>
                  <a:srgbClr val="FFFFFF"/>
                </a:solidFill>
              </a:rPr>
              <a:t>🎯  8 Project Objectives</a:t>
            </a:r>
          </a:p>
        </p:txBody>
      </p:sp>
      <p:sp>
        <p:nvSpPr>
          <p:cNvPr id="11" name="TextBox 10"/>
          <p:cNvSpPr txBox="1"/>
          <p:nvPr/>
        </p:nvSpPr>
        <p:spPr>
          <a:xfrm>
            <a:off x="6428232" y="1143000"/>
            <a:ext cx="5486400" cy="5303520"/>
          </a:xfrm>
          <a:prstGeom prst="rect">
            <a:avLst/>
          </a:prstGeom>
          <a:noFill/>
        </p:spPr>
        <p:txBody>
          <a:bodyPr wrap="square">
            <a:spAutoFit/>
          </a:bodyPr>
          <a:lstStyle/>
          <a:p>
            <a:pPr>
              <a:spcBef>
                <a:spcPts val="300"/>
              </a:spcBef>
            </a:pPr>
            <a:r>
              <a:rPr sz="1150">
                <a:solidFill>
                  <a:srgbClr val="1A1A2E"/>
                </a:solidFill>
              </a:rPr>
              <a:t>▸  O1: Build automated ETL pipeline from raw AMFI data</a:t>
            </a:r>
          </a:p>
          <a:p>
            <a:pPr>
              <a:spcBef>
                <a:spcPts val="300"/>
              </a:spcBef>
            </a:pPr>
            <a:r>
              <a:rPr sz="1150">
                <a:solidFill>
                  <a:srgbClr val="1A1A2E"/>
                </a:solidFill>
              </a:rPr>
              <a:t>▸  O2: Design normalised 5-table star schema in SQLite</a:t>
            </a:r>
          </a:p>
          <a:p>
            <a:pPr>
              <a:spcBef>
                <a:spcPts val="300"/>
              </a:spcBef>
            </a:pPr>
            <a:r>
              <a:rPr sz="1150">
                <a:solidFill>
                  <a:srgbClr val="1A1A2E"/>
                </a:solidFill>
              </a:rPr>
              <a:t>▸  O3: Perform 17-chart EDA on NAV, AUM &amp; SIP trends</a:t>
            </a:r>
          </a:p>
          <a:p>
            <a:pPr>
              <a:spcBef>
                <a:spcPts val="300"/>
              </a:spcBef>
            </a:pPr>
            <a:r>
              <a:rPr sz="1150">
                <a:solidFill>
                  <a:srgbClr val="1A1A2E"/>
                </a:solidFill>
              </a:rPr>
              <a:t>▸  O4: Compute Sharpe, Sortino, Alpha, Beta, Max Drawdown</a:t>
            </a:r>
          </a:p>
          <a:p>
            <a:pPr>
              <a:spcBef>
                <a:spcPts val="300"/>
              </a:spcBef>
            </a:pPr>
            <a:r>
              <a:rPr sz="1150">
                <a:solidFill>
                  <a:srgbClr val="1A1A2E"/>
                </a:solidFill>
              </a:rPr>
              <a:t>▸  O5: Build 4-page interactive Streamlit dashboard</a:t>
            </a:r>
          </a:p>
          <a:p>
            <a:pPr>
              <a:spcBef>
                <a:spcPts val="300"/>
              </a:spcBef>
            </a:pPr>
            <a:r>
              <a:rPr sz="1150">
                <a:solidFill>
                  <a:srgbClr val="1A1A2E"/>
                </a:solidFill>
              </a:rPr>
              <a:t>▸  O6: Analyse investor behaviour across demographics</a:t>
            </a:r>
          </a:p>
          <a:p>
            <a:pPr>
              <a:spcBef>
                <a:spcPts val="300"/>
              </a:spcBef>
            </a:pPr>
            <a:r>
              <a:rPr sz="1150">
                <a:solidFill>
                  <a:srgbClr val="1A1A2E"/>
                </a:solidFill>
              </a:rPr>
              <a:t>▸  O7: Compare fund returns vs Nifty 50 &amp; Nifty 100</a:t>
            </a:r>
          </a:p>
          <a:p>
            <a:pPr>
              <a:spcBef>
                <a:spcPts val="300"/>
              </a:spcBef>
            </a:pPr>
            <a:r>
              <a:rPr sz="1150">
                <a:solidFill>
                  <a:srgbClr val="1A1A2E"/>
                </a:solidFill>
              </a:rPr>
              <a:t>▸  O8: Deliver PDF report + presentation + clean GitHub repo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411480"/>
          </a:xfrm>
          <a:prstGeom prst="rect">
            <a:avLst/>
          </a:prstGeom>
          <a:noFill/>
        </p:spPr>
        <p:txBody>
          <a:bodyPr wrap="square">
            <a:spAutoFit/>
          </a:bodyPr>
          <a:lstStyle/>
          <a:p>
            <a:pPr algn="l"/>
            <a:r>
              <a:rPr sz="2000" b="1" i="0">
                <a:solidFill>
                  <a:srgbClr val="FFFFFF"/>
                </a:solidFill>
              </a:rPr>
              <a:t>System Architecture — 5-Layer ETL Pipeline</a:t>
            </a:r>
          </a:p>
        </p:txBody>
      </p:sp>
      <p:sp>
        <p:nvSpPr>
          <p:cNvPr id="4" name="Rectangle 3"/>
          <p:cNvSpPr/>
          <p:nvPr/>
        </p:nvSpPr>
        <p:spPr>
          <a:xfrm>
            <a:off x="274320" y="685800"/>
            <a:ext cx="11640312" cy="47548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731520"/>
            <a:ext cx="3200400" cy="365760"/>
          </a:xfrm>
          <a:prstGeom prst="rect">
            <a:avLst/>
          </a:prstGeom>
          <a:noFill/>
        </p:spPr>
        <p:txBody>
          <a:bodyPr wrap="square">
            <a:spAutoFit/>
          </a:bodyPr>
          <a:lstStyle/>
          <a:p>
            <a:pPr algn="l"/>
            <a:r>
              <a:rPr sz="1100" b="1" i="0">
                <a:solidFill>
                  <a:srgbClr val="FFFFFF"/>
                </a:solidFill>
              </a:rPr>
              <a:t>LAYER 1: EXTRACT</a:t>
            </a:r>
          </a:p>
        </p:txBody>
      </p:sp>
      <p:sp>
        <p:nvSpPr>
          <p:cNvPr id="6" name="TextBox 5"/>
          <p:cNvSpPr txBox="1"/>
          <p:nvPr/>
        </p:nvSpPr>
        <p:spPr>
          <a:xfrm>
            <a:off x="3566160" y="731520"/>
            <a:ext cx="8229600" cy="365760"/>
          </a:xfrm>
          <a:prstGeom prst="rect">
            <a:avLst/>
          </a:prstGeom>
          <a:noFill/>
        </p:spPr>
        <p:txBody>
          <a:bodyPr wrap="square">
            <a:spAutoFit/>
          </a:bodyPr>
          <a:lstStyle/>
          <a:p>
            <a:pPr algn="l"/>
            <a:r>
              <a:rPr sz="1000" b="0" i="0">
                <a:solidFill>
                  <a:srgbClr val="E0E8FF"/>
                </a:solidFill>
              </a:rPr>
              <a:t>mfapi.in REST API  ·  10 CSV datasets  ·  AMFI India public data  ·  NSE/BSE benchmark prices</a:t>
            </a:r>
          </a:p>
        </p:txBody>
      </p:sp>
      <p:sp>
        <p:nvSpPr>
          <p:cNvPr id="7" name="TextBox 6"/>
          <p:cNvSpPr txBox="1"/>
          <p:nvPr/>
        </p:nvSpPr>
        <p:spPr>
          <a:xfrm>
            <a:off x="5943600" y="1161288"/>
            <a:ext cx="457200" cy="256032"/>
          </a:xfrm>
          <a:prstGeom prst="rect">
            <a:avLst/>
          </a:prstGeom>
          <a:noFill/>
        </p:spPr>
        <p:txBody>
          <a:bodyPr wrap="square">
            <a:spAutoFit/>
          </a:bodyPr>
          <a:lstStyle/>
          <a:p>
            <a:pPr algn="ctr"/>
            <a:r>
              <a:rPr sz="1400" b="0" i="0">
                <a:solidFill>
                  <a:srgbClr val="546E7A"/>
                </a:solidFill>
              </a:rPr>
              <a:t>▼</a:t>
            </a:r>
          </a:p>
        </p:txBody>
      </p:sp>
      <p:sp>
        <p:nvSpPr>
          <p:cNvPr id="8" name="Rectangle 7"/>
          <p:cNvSpPr/>
          <p:nvPr/>
        </p:nvSpPr>
        <p:spPr>
          <a:xfrm>
            <a:off x="274320" y="1435607"/>
            <a:ext cx="11640312" cy="475488"/>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11480" y="1481328"/>
            <a:ext cx="3200400" cy="365760"/>
          </a:xfrm>
          <a:prstGeom prst="rect">
            <a:avLst/>
          </a:prstGeom>
          <a:noFill/>
        </p:spPr>
        <p:txBody>
          <a:bodyPr wrap="square">
            <a:spAutoFit/>
          </a:bodyPr>
          <a:lstStyle/>
          <a:p>
            <a:pPr algn="l"/>
            <a:r>
              <a:rPr sz="1100" b="1" i="0">
                <a:solidFill>
                  <a:srgbClr val="FFFFFF"/>
                </a:solidFill>
              </a:rPr>
              <a:t>LAYER 2: TRANSFORM</a:t>
            </a:r>
          </a:p>
        </p:txBody>
      </p:sp>
      <p:sp>
        <p:nvSpPr>
          <p:cNvPr id="10" name="TextBox 9"/>
          <p:cNvSpPr txBox="1"/>
          <p:nvPr/>
        </p:nvSpPr>
        <p:spPr>
          <a:xfrm>
            <a:off x="3566160" y="1481328"/>
            <a:ext cx="8229600" cy="365760"/>
          </a:xfrm>
          <a:prstGeom prst="rect">
            <a:avLst/>
          </a:prstGeom>
          <a:noFill/>
        </p:spPr>
        <p:txBody>
          <a:bodyPr wrap="square">
            <a:spAutoFit/>
          </a:bodyPr>
          <a:lstStyle/>
          <a:p>
            <a:pPr algn="l"/>
            <a:r>
              <a:rPr sz="1000" b="0" i="0">
                <a:solidFill>
                  <a:srgbClr val="E0E8FF"/>
                </a:solidFill>
              </a:rPr>
              <a:t>Pandas cleaning  ·  Date parsing  ·  Forward-fill (NAV holidays)  ·  AMFI code validation  ·  Type coercion</a:t>
            </a:r>
          </a:p>
        </p:txBody>
      </p:sp>
      <p:sp>
        <p:nvSpPr>
          <p:cNvPr id="11" name="TextBox 10"/>
          <p:cNvSpPr txBox="1"/>
          <p:nvPr/>
        </p:nvSpPr>
        <p:spPr>
          <a:xfrm>
            <a:off x="5943600" y="1911095"/>
            <a:ext cx="457200" cy="256032"/>
          </a:xfrm>
          <a:prstGeom prst="rect">
            <a:avLst/>
          </a:prstGeom>
          <a:noFill/>
        </p:spPr>
        <p:txBody>
          <a:bodyPr wrap="square">
            <a:spAutoFit/>
          </a:bodyPr>
          <a:lstStyle/>
          <a:p>
            <a:pPr algn="ctr"/>
            <a:r>
              <a:rPr sz="1400" b="0" i="0">
                <a:solidFill>
                  <a:srgbClr val="546E7A"/>
                </a:solidFill>
              </a:rPr>
              <a:t>▼</a:t>
            </a:r>
          </a:p>
        </p:txBody>
      </p:sp>
      <p:sp>
        <p:nvSpPr>
          <p:cNvPr id="12" name="Rectangle 11"/>
          <p:cNvSpPr/>
          <p:nvPr/>
        </p:nvSpPr>
        <p:spPr>
          <a:xfrm>
            <a:off x="274320" y="2185415"/>
            <a:ext cx="11640312" cy="475488"/>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2231135"/>
            <a:ext cx="3200400" cy="365760"/>
          </a:xfrm>
          <a:prstGeom prst="rect">
            <a:avLst/>
          </a:prstGeom>
          <a:noFill/>
        </p:spPr>
        <p:txBody>
          <a:bodyPr wrap="square">
            <a:spAutoFit/>
          </a:bodyPr>
          <a:lstStyle/>
          <a:p>
            <a:pPr algn="l"/>
            <a:r>
              <a:rPr sz="1100" b="1" i="0">
                <a:solidFill>
                  <a:srgbClr val="FFFFFF"/>
                </a:solidFill>
              </a:rPr>
              <a:t>LAYER 3: LOAD</a:t>
            </a:r>
          </a:p>
        </p:txBody>
      </p:sp>
      <p:sp>
        <p:nvSpPr>
          <p:cNvPr id="14" name="TextBox 13"/>
          <p:cNvSpPr txBox="1"/>
          <p:nvPr/>
        </p:nvSpPr>
        <p:spPr>
          <a:xfrm>
            <a:off x="3566160" y="2231135"/>
            <a:ext cx="8229600" cy="365760"/>
          </a:xfrm>
          <a:prstGeom prst="rect">
            <a:avLst/>
          </a:prstGeom>
          <a:noFill/>
        </p:spPr>
        <p:txBody>
          <a:bodyPr wrap="square">
            <a:spAutoFit/>
          </a:bodyPr>
          <a:lstStyle/>
          <a:p>
            <a:pPr algn="l"/>
            <a:r>
              <a:rPr sz="1000" b="0" i="0">
                <a:solidFill>
                  <a:srgbClr val="E0E8FF"/>
                </a:solidFill>
              </a:rPr>
              <a:t>SQLite via SQLAlchemy  ·  11-table star schema  ·  89,359 rows  ·  Indexed on amfi_code + date</a:t>
            </a:r>
          </a:p>
        </p:txBody>
      </p:sp>
      <p:sp>
        <p:nvSpPr>
          <p:cNvPr id="15" name="TextBox 14"/>
          <p:cNvSpPr txBox="1"/>
          <p:nvPr/>
        </p:nvSpPr>
        <p:spPr>
          <a:xfrm>
            <a:off x="5943600" y="2660903"/>
            <a:ext cx="457200" cy="256032"/>
          </a:xfrm>
          <a:prstGeom prst="rect">
            <a:avLst/>
          </a:prstGeom>
          <a:noFill/>
        </p:spPr>
        <p:txBody>
          <a:bodyPr wrap="square">
            <a:spAutoFit/>
          </a:bodyPr>
          <a:lstStyle/>
          <a:p>
            <a:pPr algn="ctr"/>
            <a:r>
              <a:rPr sz="1400" b="0" i="0">
                <a:solidFill>
                  <a:srgbClr val="546E7A"/>
                </a:solidFill>
              </a:rPr>
              <a:t>▼</a:t>
            </a:r>
          </a:p>
        </p:txBody>
      </p:sp>
      <p:sp>
        <p:nvSpPr>
          <p:cNvPr id="16" name="Rectangle 15"/>
          <p:cNvSpPr/>
          <p:nvPr/>
        </p:nvSpPr>
        <p:spPr>
          <a:xfrm>
            <a:off x="274320" y="2935223"/>
            <a:ext cx="11640312" cy="475488"/>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11480" y="2980943"/>
            <a:ext cx="3200400" cy="365760"/>
          </a:xfrm>
          <a:prstGeom prst="rect">
            <a:avLst/>
          </a:prstGeom>
          <a:noFill/>
        </p:spPr>
        <p:txBody>
          <a:bodyPr wrap="square">
            <a:spAutoFit/>
          </a:bodyPr>
          <a:lstStyle/>
          <a:p>
            <a:pPr algn="l"/>
            <a:r>
              <a:rPr sz="1100" b="1" i="0">
                <a:solidFill>
                  <a:srgbClr val="FFFFFF"/>
                </a:solidFill>
              </a:rPr>
              <a:t>LAYER 4: ANALYSE</a:t>
            </a:r>
          </a:p>
        </p:txBody>
      </p:sp>
      <p:sp>
        <p:nvSpPr>
          <p:cNvPr id="18" name="TextBox 17"/>
          <p:cNvSpPr txBox="1"/>
          <p:nvPr/>
        </p:nvSpPr>
        <p:spPr>
          <a:xfrm>
            <a:off x="3566160" y="2980943"/>
            <a:ext cx="8229600" cy="365760"/>
          </a:xfrm>
          <a:prstGeom prst="rect">
            <a:avLst/>
          </a:prstGeom>
          <a:noFill/>
        </p:spPr>
        <p:txBody>
          <a:bodyPr wrap="square">
            <a:spAutoFit/>
          </a:bodyPr>
          <a:lstStyle/>
          <a:p>
            <a:pPr algn="l"/>
            <a:r>
              <a:rPr sz="1000" b="0" i="0">
                <a:solidFill>
                  <a:srgbClr val="E0E8FF"/>
                </a:solidFill>
              </a:rPr>
              <a:t>EDA notebooks  ·  CAGR / Sharpe / Sortino / Alpha / Beta  ·  VaR / CVaR  ·  Cohort  ·  HHI</a:t>
            </a:r>
          </a:p>
        </p:txBody>
      </p:sp>
      <p:sp>
        <p:nvSpPr>
          <p:cNvPr id="19" name="TextBox 18"/>
          <p:cNvSpPr txBox="1"/>
          <p:nvPr/>
        </p:nvSpPr>
        <p:spPr>
          <a:xfrm>
            <a:off x="5943600" y="3410711"/>
            <a:ext cx="457200" cy="256032"/>
          </a:xfrm>
          <a:prstGeom prst="rect">
            <a:avLst/>
          </a:prstGeom>
          <a:noFill/>
        </p:spPr>
        <p:txBody>
          <a:bodyPr wrap="square">
            <a:spAutoFit/>
          </a:bodyPr>
          <a:lstStyle/>
          <a:p>
            <a:pPr algn="ctr"/>
            <a:r>
              <a:rPr sz="1400" b="0" i="0">
                <a:solidFill>
                  <a:srgbClr val="546E7A"/>
                </a:solidFill>
              </a:rPr>
              <a:t>▼</a:t>
            </a:r>
          </a:p>
        </p:txBody>
      </p:sp>
      <p:sp>
        <p:nvSpPr>
          <p:cNvPr id="20" name="Rectangle 19"/>
          <p:cNvSpPr/>
          <p:nvPr/>
        </p:nvSpPr>
        <p:spPr>
          <a:xfrm>
            <a:off x="274320" y="3685031"/>
            <a:ext cx="11640312" cy="475488"/>
          </a:xfrm>
          <a:prstGeom prst="rect">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11480" y="3730751"/>
            <a:ext cx="3200400" cy="365760"/>
          </a:xfrm>
          <a:prstGeom prst="rect">
            <a:avLst/>
          </a:prstGeom>
          <a:noFill/>
        </p:spPr>
        <p:txBody>
          <a:bodyPr wrap="square">
            <a:spAutoFit/>
          </a:bodyPr>
          <a:lstStyle/>
          <a:p>
            <a:pPr algn="l"/>
            <a:r>
              <a:rPr sz="1100" b="1" i="0">
                <a:solidFill>
                  <a:srgbClr val="FFFFFF"/>
                </a:solidFill>
              </a:rPr>
              <a:t>LAYER 5: VISUALISE</a:t>
            </a:r>
          </a:p>
        </p:txBody>
      </p:sp>
      <p:sp>
        <p:nvSpPr>
          <p:cNvPr id="22" name="TextBox 21"/>
          <p:cNvSpPr txBox="1"/>
          <p:nvPr/>
        </p:nvSpPr>
        <p:spPr>
          <a:xfrm>
            <a:off x="3566160" y="3730751"/>
            <a:ext cx="8229600" cy="365760"/>
          </a:xfrm>
          <a:prstGeom prst="rect">
            <a:avLst/>
          </a:prstGeom>
          <a:noFill/>
        </p:spPr>
        <p:txBody>
          <a:bodyPr wrap="square">
            <a:spAutoFit/>
          </a:bodyPr>
          <a:lstStyle/>
          <a:p>
            <a:pPr algn="l"/>
            <a:r>
              <a:rPr sz="1000" b="0" i="0">
                <a:solidFill>
                  <a:srgbClr val="1A1A2E"/>
                </a:solidFill>
              </a:rPr>
              <a:t>Streamlit 4-page dashboard  ·  20+ PNG charts  ·  KPI cards  ·  Interactive slicers  ·  Fund selector</a:t>
            </a:r>
          </a:p>
        </p:txBody>
      </p:sp>
      <p:sp>
        <p:nvSpPr>
          <p:cNvPr id="23" name="Rectangle 22"/>
          <p:cNvSpPr/>
          <p:nvPr/>
        </p:nvSpPr>
        <p:spPr>
          <a:xfrm>
            <a:off x="274320" y="5577840"/>
            <a:ext cx="11640312" cy="384048"/>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5623560"/>
            <a:ext cx="11274552" cy="320040"/>
          </a:xfrm>
          <a:prstGeom prst="rect">
            <a:avLst/>
          </a:prstGeom>
          <a:noFill/>
        </p:spPr>
        <p:txBody>
          <a:bodyPr wrap="square">
            <a:spAutoFit/>
          </a:bodyPr>
          <a:lstStyle/>
          <a:p>
            <a:pPr algn="ctr"/>
            <a:r>
              <a:rPr sz="1050" b="0" i="0">
                <a:solidFill>
                  <a:srgbClr val="1A1A2E"/>
                </a:solidFill>
              </a:rPr>
              <a:t>📂  data/raw/  →  data/processed/  →  data/db/bluestock_mf.db  →  notebooks/  →  dashboard.py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411480"/>
          </a:xfrm>
          <a:prstGeom prst="rect">
            <a:avLst/>
          </a:prstGeom>
          <a:noFill/>
        </p:spPr>
        <p:txBody>
          <a:bodyPr wrap="square">
            <a:spAutoFit/>
          </a:bodyPr>
          <a:lstStyle/>
          <a:p>
            <a:pPr algn="l"/>
            <a:r>
              <a:rPr sz="2000" b="1" i="0">
                <a:solidFill>
                  <a:srgbClr val="FFFFFF"/>
                </a:solidFill>
              </a:rPr>
              <a:t>Database Design — SQLite Star Schema</a:t>
            </a:r>
          </a:p>
        </p:txBody>
      </p:sp>
      <p:sp>
        <p:nvSpPr>
          <p:cNvPr id="4" name="Rectangle 3"/>
          <p:cNvSpPr/>
          <p:nvPr/>
        </p:nvSpPr>
        <p:spPr>
          <a:xfrm>
            <a:off x="182880" y="658368"/>
            <a:ext cx="1600200" cy="29260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694944"/>
            <a:ext cx="1554480" cy="228600"/>
          </a:xfrm>
          <a:prstGeom prst="rect">
            <a:avLst/>
          </a:prstGeom>
          <a:noFill/>
        </p:spPr>
        <p:txBody>
          <a:bodyPr wrap="square">
            <a:spAutoFit/>
          </a:bodyPr>
          <a:lstStyle/>
          <a:p>
            <a:pPr algn="l"/>
            <a:r>
              <a:rPr sz="950" b="1" i="0">
                <a:solidFill>
                  <a:srgbClr val="FFFFFF"/>
                </a:solidFill>
              </a:rPr>
              <a:t>Table</a:t>
            </a:r>
          </a:p>
        </p:txBody>
      </p:sp>
      <p:sp>
        <p:nvSpPr>
          <p:cNvPr id="6" name="Rectangle 5"/>
          <p:cNvSpPr/>
          <p:nvPr/>
        </p:nvSpPr>
        <p:spPr>
          <a:xfrm>
            <a:off x="1920240" y="658368"/>
            <a:ext cx="960120" cy="29260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965960" y="694944"/>
            <a:ext cx="914400" cy="228600"/>
          </a:xfrm>
          <a:prstGeom prst="rect">
            <a:avLst/>
          </a:prstGeom>
          <a:noFill/>
        </p:spPr>
        <p:txBody>
          <a:bodyPr wrap="square">
            <a:spAutoFit/>
          </a:bodyPr>
          <a:lstStyle/>
          <a:p>
            <a:pPr algn="l"/>
            <a:r>
              <a:rPr sz="950" b="1" i="0">
                <a:solidFill>
                  <a:srgbClr val="FFFFFF"/>
                </a:solidFill>
              </a:rPr>
              <a:t>Type</a:t>
            </a:r>
          </a:p>
        </p:txBody>
      </p:sp>
      <p:sp>
        <p:nvSpPr>
          <p:cNvPr id="8" name="Rectangle 7"/>
          <p:cNvSpPr/>
          <p:nvPr/>
        </p:nvSpPr>
        <p:spPr>
          <a:xfrm>
            <a:off x="2971800" y="658368"/>
            <a:ext cx="685800" cy="29260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017520" y="694944"/>
            <a:ext cx="640080" cy="228600"/>
          </a:xfrm>
          <a:prstGeom prst="rect">
            <a:avLst/>
          </a:prstGeom>
          <a:noFill/>
        </p:spPr>
        <p:txBody>
          <a:bodyPr wrap="square">
            <a:spAutoFit/>
          </a:bodyPr>
          <a:lstStyle/>
          <a:p>
            <a:pPr algn="l"/>
            <a:r>
              <a:rPr sz="950" b="1" i="0">
                <a:solidFill>
                  <a:srgbClr val="FFFFFF"/>
                </a:solidFill>
              </a:rPr>
              <a:t>Rows</a:t>
            </a:r>
          </a:p>
        </p:txBody>
      </p:sp>
      <p:sp>
        <p:nvSpPr>
          <p:cNvPr id="10" name="Rectangle 9"/>
          <p:cNvSpPr/>
          <p:nvPr/>
        </p:nvSpPr>
        <p:spPr>
          <a:xfrm>
            <a:off x="3749039" y="658368"/>
            <a:ext cx="1783080" cy="29260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94759" y="694944"/>
            <a:ext cx="1737360" cy="228600"/>
          </a:xfrm>
          <a:prstGeom prst="rect">
            <a:avLst/>
          </a:prstGeom>
          <a:noFill/>
        </p:spPr>
        <p:txBody>
          <a:bodyPr wrap="square">
            <a:spAutoFit/>
          </a:bodyPr>
          <a:lstStyle/>
          <a:p>
            <a:pPr algn="l"/>
            <a:r>
              <a:rPr sz="950" b="1" i="0">
                <a:solidFill>
                  <a:srgbClr val="FFFFFF"/>
                </a:solidFill>
              </a:rPr>
              <a:t>Primary Key</a:t>
            </a:r>
          </a:p>
        </p:txBody>
      </p:sp>
      <p:sp>
        <p:nvSpPr>
          <p:cNvPr id="12" name="Rectangle 11"/>
          <p:cNvSpPr/>
          <p:nvPr/>
        </p:nvSpPr>
        <p:spPr>
          <a:xfrm>
            <a:off x="5669280" y="658368"/>
            <a:ext cx="4279392" cy="292608"/>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715000" y="694944"/>
            <a:ext cx="4233672" cy="228600"/>
          </a:xfrm>
          <a:prstGeom prst="rect">
            <a:avLst/>
          </a:prstGeom>
          <a:noFill/>
        </p:spPr>
        <p:txBody>
          <a:bodyPr wrap="square">
            <a:spAutoFit/>
          </a:bodyPr>
          <a:lstStyle/>
          <a:p>
            <a:pPr algn="l"/>
            <a:r>
              <a:rPr sz="950" b="1" i="0">
                <a:solidFill>
                  <a:srgbClr val="FFFFFF"/>
                </a:solidFill>
              </a:rPr>
              <a:t>Description</a:t>
            </a:r>
          </a:p>
        </p:txBody>
      </p:sp>
      <p:sp>
        <p:nvSpPr>
          <p:cNvPr id="14" name="Rectangle 13"/>
          <p:cNvSpPr/>
          <p:nvPr/>
        </p:nvSpPr>
        <p:spPr>
          <a:xfrm>
            <a:off x="182880" y="969264"/>
            <a:ext cx="16002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28600" y="1014984"/>
            <a:ext cx="1554480" cy="384048"/>
          </a:xfrm>
          <a:prstGeom prst="rect">
            <a:avLst/>
          </a:prstGeom>
          <a:noFill/>
        </p:spPr>
        <p:txBody>
          <a:bodyPr wrap="square">
            <a:spAutoFit/>
          </a:bodyPr>
          <a:lstStyle/>
          <a:p>
            <a:pPr algn="l"/>
            <a:r>
              <a:rPr sz="850" b="1" i="0">
                <a:solidFill>
                  <a:srgbClr val="1565C0"/>
                </a:solidFill>
              </a:rPr>
              <a:t>dim_fund</a:t>
            </a:r>
          </a:p>
        </p:txBody>
      </p:sp>
      <p:sp>
        <p:nvSpPr>
          <p:cNvPr id="16" name="Rectangle 15"/>
          <p:cNvSpPr/>
          <p:nvPr/>
        </p:nvSpPr>
        <p:spPr>
          <a:xfrm>
            <a:off x="1920240" y="969264"/>
            <a:ext cx="96012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965960" y="1014984"/>
            <a:ext cx="914400" cy="384048"/>
          </a:xfrm>
          <a:prstGeom prst="rect">
            <a:avLst/>
          </a:prstGeom>
          <a:noFill/>
        </p:spPr>
        <p:txBody>
          <a:bodyPr wrap="square">
            <a:spAutoFit/>
          </a:bodyPr>
          <a:lstStyle/>
          <a:p>
            <a:pPr algn="l"/>
            <a:r>
              <a:rPr sz="850" b="0" i="0">
                <a:solidFill>
                  <a:srgbClr val="1A1A2E"/>
                </a:solidFill>
              </a:rPr>
              <a:t>Dimension</a:t>
            </a:r>
          </a:p>
        </p:txBody>
      </p:sp>
      <p:sp>
        <p:nvSpPr>
          <p:cNvPr id="18" name="Rectangle 17"/>
          <p:cNvSpPr/>
          <p:nvPr/>
        </p:nvSpPr>
        <p:spPr>
          <a:xfrm>
            <a:off x="2971800" y="969264"/>
            <a:ext cx="6858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17520" y="1014984"/>
            <a:ext cx="640080" cy="384048"/>
          </a:xfrm>
          <a:prstGeom prst="rect">
            <a:avLst/>
          </a:prstGeom>
          <a:noFill/>
        </p:spPr>
        <p:txBody>
          <a:bodyPr wrap="square">
            <a:spAutoFit/>
          </a:bodyPr>
          <a:lstStyle/>
          <a:p>
            <a:pPr algn="l"/>
            <a:r>
              <a:rPr sz="850" b="0" i="0">
                <a:solidFill>
                  <a:srgbClr val="1A1A2E"/>
                </a:solidFill>
              </a:rPr>
              <a:t>40</a:t>
            </a:r>
          </a:p>
        </p:txBody>
      </p:sp>
      <p:sp>
        <p:nvSpPr>
          <p:cNvPr id="20" name="Rectangle 19"/>
          <p:cNvSpPr/>
          <p:nvPr/>
        </p:nvSpPr>
        <p:spPr>
          <a:xfrm>
            <a:off x="3749039" y="969264"/>
            <a:ext cx="178308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794759" y="1014984"/>
            <a:ext cx="1737360" cy="384048"/>
          </a:xfrm>
          <a:prstGeom prst="rect">
            <a:avLst/>
          </a:prstGeom>
          <a:noFill/>
        </p:spPr>
        <p:txBody>
          <a:bodyPr wrap="square">
            <a:spAutoFit/>
          </a:bodyPr>
          <a:lstStyle/>
          <a:p>
            <a:pPr algn="l"/>
            <a:r>
              <a:rPr sz="850" b="0" i="0">
                <a:solidFill>
                  <a:srgbClr val="1A1A2E"/>
                </a:solidFill>
              </a:rPr>
              <a:t>amfi_code (PK)</a:t>
            </a:r>
          </a:p>
        </p:txBody>
      </p:sp>
      <p:sp>
        <p:nvSpPr>
          <p:cNvPr id="22" name="Rectangle 21"/>
          <p:cNvSpPr/>
          <p:nvPr/>
        </p:nvSpPr>
        <p:spPr>
          <a:xfrm>
            <a:off x="5669280" y="969264"/>
            <a:ext cx="4279392"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15000" y="1014984"/>
            <a:ext cx="4233672" cy="384048"/>
          </a:xfrm>
          <a:prstGeom prst="rect">
            <a:avLst/>
          </a:prstGeom>
          <a:noFill/>
        </p:spPr>
        <p:txBody>
          <a:bodyPr wrap="square">
            <a:spAutoFit/>
          </a:bodyPr>
          <a:lstStyle/>
          <a:p>
            <a:pPr algn="l"/>
            <a:r>
              <a:rPr sz="850" b="0" i="0">
                <a:solidFill>
                  <a:srgbClr val="1A1A2E"/>
                </a:solidFill>
              </a:rPr>
              <a:t>40 mutual fund schemes — all metadata</a:t>
            </a:r>
          </a:p>
        </p:txBody>
      </p:sp>
      <p:sp>
        <p:nvSpPr>
          <p:cNvPr id="24" name="Rectangle 23"/>
          <p:cNvSpPr/>
          <p:nvPr/>
        </p:nvSpPr>
        <p:spPr>
          <a:xfrm>
            <a:off x="182880" y="1453896"/>
            <a:ext cx="1600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28600" y="1499616"/>
            <a:ext cx="1554480" cy="384048"/>
          </a:xfrm>
          <a:prstGeom prst="rect">
            <a:avLst/>
          </a:prstGeom>
          <a:noFill/>
        </p:spPr>
        <p:txBody>
          <a:bodyPr wrap="square">
            <a:spAutoFit/>
          </a:bodyPr>
          <a:lstStyle/>
          <a:p>
            <a:pPr algn="l"/>
            <a:r>
              <a:rPr sz="850" b="1" i="0">
                <a:solidFill>
                  <a:srgbClr val="1565C0"/>
                </a:solidFill>
              </a:rPr>
              <a:t>dim_date</a:t>
            </a:r>
          </a:p>
        </p:txBody>
      </p:sp>
      <p:sp>
        <p:nvSpPr>
          <p:cNvPr id="26" name="Rectangle 25"/>
          <p:cNvSpPr/>
          <p:nvPr/>
        </p:nvSpPr>
        <p:spPr>
          <a:xfrm>
            <a:off x="1920240" y="1453896"/>
            <a:ext cx="9601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965960" y="1499616"/>
            <a:ext cx="914400" cy="384048"/>
          </a:xfrm>
          <a:prstGeom prst="rect">
            <a:avLst/>
          </a:prstGeom>
          <a:noFill/>
        </p:spPr>
        <p:txBody>
          <a:bodyPr wrap="square">
            <a:spAutoFit/>
          </a:bodyPr>
          <a:lstStyle/>
          <a:p>
            <a:pPr algn="l"/>
            <a:r>
              <a:rPr sz="850" b="0" i="0">
                <a:solidFill>
                  <a:srgbClr val="1A1A2E"/>
                </a:solidFill>
              </a:rPr>
              <a:t>Dimension</a:t>
            </a:r>
          </a:p>
        </p:txBody>
      </p:sp>
      <p:sp>
        <p:nvSpPr>
          <p:cNvPr id="28" name="Rectangle 27"/>
          <p:cNvSpPr/>
          <p:nvPr/>
        </p:nvSpPr>
        <p:spPr>
          <a:xfrm>
            <a:off x="2971800" y="1453896"/>
            <a:ext cx="685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017520" y="1499616"/>
            <a:ext cx="640080" cy="384048"/>
          </a:xfrm>
          <a:prstGeom prst="rect">
            <a:avLst/>
          </a:prstGeom>
          <a:noFill/>
        </p:spPr>
        <p:txBody>
          <a:bodyPr wrap="square">
            <a:spAutoFit/>
          </a:bodyPr>
          <a:lstStyle/>
          <a:p>
            <a:pPr algn="l"/>
            <a:r>
              <a:rPr sz="850" b="0" i="0">
                <a:solidFill>
                  <a:srgbClr val="1A1A2E"/>
                </a:solidFill>
              </a:rPr>
              <a:t>1,826</a:t>
            </a:r>
          </a:p>
        </p:txBody>
      </p:sp>
      <p:sp>
        <p:nvSpPr>
          <p:cNvPr id="30" name="Rectangle 29"/>
          <p:cNvSpPr/>
          <p:nvPr/>
        </p:nvSpPr>
        <p:spPr>
          <a:xfrm>
            <a:off x="3749039" y="1453896"/>
            <a:ext cx="17830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94759" y="1499616"/>
            <a:ext cx="1737360" cy="384048"/>
          </a:xfrm>
          <a:prstGeom prst="rect">
            <a:avLst/>
          </a:prstGeom>
          <a:noFill/>
        </p:spPr>
        <p:txBody>
          <a:bodyPr wrap="square">
            <a:spAutoFit/>
          </a:bodyPr>
          <a:lstStyle/>
          <a:p>
            <a:pPr algn="l"/>
            <a:r>
              <a:rPr sz="850" b="0" i="0">
                <a:solidFill>
                  <a:srgbClr val="1A1A2E"/>
                </a:solidFill>
              </a:rPr>
              <a:t>date (PK)</a:t>
            </a:r>
          </a:p>
        </p:txBody>
      </p:sp>
      <p:sp>
        <p:nvSpPr>
          <p:cNvPr id="32" name="Rectangle 31"/>
          <p:cNvSpPr/>
          <p:nvPr/>
        </p:nvSpPr>
        <p:spPr>
          <a:xfrm>
            <a:off x="5669280" y="1453896"/>
            <a:ext cx="427939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715000" y="1499616"/>
            <a:ext cx="4233672" cy="384048"/>
          </a:xfrm>
          <a:prstGeom prst="rect">
            <a:avLst/>
          </a:prstGeom>
          <a:noFill/>
        </p:spPr>
        <p:txBody>
          <a:bodyPr wrap="square">
            <a:spAutoFit/>
          </a:bodyPr>
          <a:lstStyle/>
          <a:p>
            <a:pPr algn="l"/>
            <a:r>
              <a:rPr sz="850" b="0" i="0">
                <a:solidFill>
                  <a:srgbClr val="1A1A2E"/>
                </a:solidFill>
              </a:rPr>
              <a:t>Calendar 2022–2026, year/month/quarter</a:t>
            </a:r>
          </a:p>
        </p:txBody>
      </p:sp>
      <p:sp>
        <p:nvSpPr>
          <p:cNvPr id="34" name="Rectangle 33"/>
          <p:cNvSpPr/>
          <p:nvPr/>
        </p:nvSpPr>
        <p:spPr>
          <a:xfrm>
            <a:off x="182880" y="1938528"/>
            <a:ext cx="16002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28600" y="1984248"/>
            <a:ext cx="1554480" cy="384048"/>
          </a:xfrm>
          <a:prstGeom prst="rect">
            <a:avLst/>
          </a:prstGeom>
          <a:noFill/>
        </p:spPr>
        <p:txBody>
          <a:bodyPr wrap="square">
            <a:spAutoFit/>
          </a:bodyPr>
          <a:lstStyle/>
          <a:p>
            <a:pPr algn="l"/>
            <a:r>
              <a:rPr sz="850" b="1" i="0">
                <a:solidFill>
                  <a:srgbClr val="1565C0"/>
                </a:solidFill>
              </a:rPr>
              <a:t>fact_nav</a:t>
            </a:r>
          </a:p>
        </p:txBody>
      </p:sp>
      <p:sp>
        <p:nvSpPr>
          <p:cNvPr id="36" name="Rectangle 35"/>
          <p:cNvSpPr/>
          <p:nvPr/>
        </p:nvSpPr>
        <p:spPr>
          <a:xfrm>
            <a:off x="1920240" y="1938528"/>
            <a:ext cx="96012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965960" y="1984248"/>
            <a:ext cx="914400" cy="384048"/>
          </a:xfrm>
          <a:prstGeom prst="rect">
            <a:avLst/>
          </a:prstGeom>
          <a:noFill/>
        </p:spPr>
        <p:txBody>
          <a:bodyPr wrap="square">
            <a:spAutoFit/>
          </a:bodyPr>
          <a:lstStyle/>
          <a:p>
            <a:pPr algn="l"/>
            <a:r>
              <a:rPr sz="850" b="0" i="0">
                <a:solidFill>
                  <a:srgbClr val="1A1A2E"/>
                </a:solidFill>
              </a:rPr>
              <a:t>Fact</a:t>
            </a:r>
          </a:p>
        </p:txBody>
      </p:sp>
      <p:sp>
        <p:nvSpPr>
          <p:cNvPr id="38" name="Rectangle 37"/>
          <p:cNvSpPr/>
          <p:nvPr/>
        </p:nvSpPr>
        <p:spPr>
          <a:xfrm>
            <a:off x="2971800" y="1938528"/>
            <a:ext cx="6858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017520" y="1984248"/>
            <a:ext cx="640080" cy="384048"/>
          </a:xfrm>
          <a:prstGeom prst="rect">
            <a:avLst/>
          </a:prstGeom>
          <a:noFill/>
        </p:spPr>
        <p:txBody>
          <a:bodyPr wrap="square">
            <a:spAutoFit/>
          </a:bodyPr>
          <a:lstStyle/>
          <a:p>
            <a:pPr algn="l"/>
            <a:r>
              <a:rPr sz="850" b="0" i="0">
                <a:solidFill>
                  <a:srgbClr val="1A1A2E"/>
                </a:solidFill>
              </a:rPr>
              <a:t>46,000</a:t>
            </a:r>
          </a:p>
        </p:txBody>
      </p:sp>
      <p:sp>
        <p:nvSpPr>
          <p:cNvPr id="40" name="Rectangle 39"/>
          <p:cNvSpPr/>
          <p:nvPr/>
        </p:nvSpPr>
        <p:spPr>
          <a:xfrm>
            <a:off x="3749039" y="1938528"/>
            <a:ext cx="178308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794759" y="1984248"/>
            <a:ext cx="1737360" cy="384048"/>
          </a:xfrm>
          <a:prstGeom prst="rect">
            <a:avLst/>
          </a:prstGeom>
          <a:noFill/>
        </p:spPr>
        <p:txBody>
          <a:bodyPr wrap="square">
            <a:spAutoFit/>
          </a:bodyPr>
          <a:lstStyle/>
          <a:p>
            <a:pPr algn="l"/>
            <a:r>
              <a:rPr sz="850" b="0" i="0">
                <a:solidFill>
                  <a:srgbClr val="1A1A2E"/>
                </a:solidFill>
              </a:rPr>
              <a:t>(amfi_code,date)</a:t>
            </a:r>
          </a:p>
        </p:txBody>
      </p:sp>
      <p:sp>
        <p:nvSpPr>
          <p:cNvPr id="42" name="Rectangle 41"/>
          <p:cNvSpPr/>
          <p:nvPr/>
        </p:nvSpPr>
        <p:spPr>
          <a:xfrm>
            <a:off x="5669280" y="1938528"/>
            <a:ext cx="4279392"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715000" y="1984248"/>
            <a:ext cx="4233672" cy="384048"/>
          </a:xfrm>
          <a:prstGeom prst="rect">
            <a:avLst/>
          </a:prstGeom>
          <a:noFill/>
        </p:spPr>
        <p:txBody>
          <a:bodyPr wrap="square">
            <a:spAutoFit/>
          </a:bodyPr>
          <a:lstStyle/>
          <a:p>
            <a:pPr algn="l"/>
            <a:r>
              <a:rPr sz="850" b="0" i="0">
                <a:solidFill>
                  <a:srgbClr val="1A1A2E"/>
                </a:solidFill>
              </a:rPr>
              <a:t>Daily NAV + computed daily return %</a:t>
            </a:r>
          </a:p>
        </p:txBody>
      </p:sp>
      <p:sp>
        <p:nvSpPr>
          <p:cNvPr id="44" name="Rectangle 43"/>
          <p:cNvSpPr/>
          <p:nvPr/>
        </p:nvSpPr>
        <p:spPr>
          <a:xfrm>
            <a:off x="182880" y="2423160"/>
            <a:ext cx="1600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28600" y="2468880"/>
            <a:ext cx="1554480" cy="384048"/>
          </a:xfrm>
          <a:prstGeom prst="rect">
            <a:avLst/>
          </a:prstGeom>
          <a:noFill/>
        </p:spPr>
        <p:txBody>
          <a:bodyPr wrap="square">
            <a:spAutoFit/>
          </a:bodyPr>
          <a:lstStyle/>
          <a:p>
            <a:pPr algn="l"/>
            <a:r>
              <a:rPr sz="850" b="1" i="0">
                <a:solidFill>
                  <a:srgbClr val="1565C0"/>
                </a:solidFill>
              </a:rPr>
              <a:t>fact_transactions</a:t>
            </a:r>
          </a:p>
        </p:txBody>
      </p:sp>
      <p:sp>
        <p:nvSpPr>
          <p:cNvPr id="46" name="Rectangle 45"/>
          <p:cNvSpPr/>
          <p:nvPr/>
        </p:nvSpPr>
        <p:spPr>
          <a:xfrm>
            <a:off x="1920240" y="2423160"/>
            <a:ext cx="9601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965960" y="2468880"/>
            <a:ext cx="914400" cy="384048"/>
          </a:xfrm>
          <a:prstGeom prst="rect">
            <a:avLst/>
          </a:prstGeom>
          <a:noFill/>
        </p:spPr>
        <p:txBody>
          <a:bodyPr wrap="square">
            <a:spAutoFit/>
          </a:bodyPr>
          <a:lstStyle/>
          <a:p>
            <a:pPr algn="l"/>
            <a:r>
              <a:rPr sz="850" b="0" i="0">
                <a:solidFill>
                  <a:srgbClr val="1A1A2E"/>
                </a:solidFill>
              </a:rPr>
              <a:t>Fact</a:t>
            </a:r>
          </a:p>
        </p:txBody>
      </p:sp>
      <p:sp>
        <p:nvSpPr>
          <p:cNvPr id="48" name="Rectangle 47"/>
          <p:cNvSpPr/>
          <p:nvPr/>
        </p:nvSpPr>
        <p:spPr>
          <a:xfrm>
            <a:off x="2971800" y="2423160"/>
            <a:ext cx="685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017520" y="2468880"/>
            <a:ext cx="640080" cy="384048"/>
          </a:xfrm>
          <a:prstGeom prst="rect">
            <a:avLst/>
          </a:prstGeom>
          <a:noFill/>
        </p:spPr>
        <p:txBody>
          <a:bodyPr wrap="square">
            <a:spAutoFit/>
          </a:bodyPr>
          <a:lstStyle/>
          <a:p>
            <a:pPr algn="l"/>
            <a:r>
              <a:rPr sz="850" b="0" i="0">
                <a:solidFill>
                  <a:srgbClr val="1A1A2E"/>
                </a:solidFill>
              </a:rPr>
              <a:t>32,778</a:t>
            </a:r>
          </a:p>
        </p:txBody>
      </p:sp>
      <p:sp>
        <p:nvSpPr>
          <p:cNvPr id="50" name="Rectangle 49"/>
          <p:cNvSpPr/>
          <p:nvPr/>
        </p:nvSpPr>
        <p:spPr>
          <a:xfrm>
            <a:off x="3749039" y="2423160"/>
            <a:ext cx="17830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3794759" y="2468880"/>
            <a:ext cx="1737360" cy="384048"/>
          </a:xfrm>
          <a:prstGeom prst="rect">
            <a:avLst/>
          </a:prstGeom>
          <a:noFill/>
        </p:spPr>
        <p:txBody>
          <a:bodyPr wrap="square">
            <a:spAutoFit/>
          </a:bodyPr>
          <a:lstStyle/>
          <a:p>
            <a:pPr algn="l"/>
            <a:r>
              <a:rPr sz="850" b="0" i="0">
                <a:solidFill>
                  <a:srgbClr val="1A1A2E"/>
                </a:solidFill>
              </a:rPr>
              <a:t>auto</a:t>
            </a:r>
          </a:p>
        </p:txBody>
      </p:sp>
      <p:sp>
        <p:nvSpPr>
          <p:cNvPr id="52" name="Rectangle 51"/>
          <p:cNvSpPr/>
          <p:nvPr/>
        </p:nvSpPr>
        <p:spPr>
          <a:xfrm>
            <a:off x="5669280" y="2423160"/>
            <a:ext cx="427939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5715000" y="2468880"/>
            <a:ext cx="4233672" cy="384048"/>
          </a:xfrm>
          <a:prstGeom prst="rect">
            <a:avLst/>
          </a:prstGeom>
          <a:noFill/>
        </p:spPr>
        <p:txBody>
          <a:bodyPr wrap="square">
            <a:spAutoFit/>
          </a:bodyPr>
          <a:lstStyle/>
          <a:p>
            <a:pPr algn="l"/>
            <a:r>
              <a:rPr sz="850" b="0" i="0">
                <a:solidFill>
                  <a:srgbClr val="1A1A2E"/>
                </a:solidFill>
              </a:rPr>
              <a:t>SIP / Lumpsum / Redemption investor events</a:t>
            </a:r>
          </a:p>
        </p:txBody>
      </p:sp>
      <p:sp>
        <p:nvSpPr>
          <p:cNvPr id="54" name="Rectangle 53"/>
          <p:cNvSpPr/>
          <p:nvPr/>
        </p:nvSpPr>
        <p:spPr>
          <a:xfrm>
            <a:off x="182880" y="2907792"/>
            <a:ext cx="16002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28600" y="2953512"/>
            <a:ext cx="1554480" cy="384048"/>
          </a:xfrm>
          <a:prstGeom prst="rect">
            <a:avLst/>
          </a:prstGeom>
          <a:noFill/>
        </p:spPr>
        <p:txBody>
          <a:bodyPr wrap="square">
            <a:spAutoFit/>
          </a:bodyPr>
          <a:lstStyle/>
          <a:p>
            <a:pPr algn="l"/>
            <a:r>
              <a:rPr sz="850" b="1" i="0">
                <a:solidFill>
                  <a:srgbClr val="1565C0"/>
                </a:solidFill>
              </a:rPr>
              <a:t>fact_performance</a:t>
            </a:r>
          </a:p>
        </p:txBody>
      </p:sp>
      <p:sp>
        <p:nvSpPr>
          <p:cNvPr id="56" name="Rectangle 55"/>
          <p:cNvSpPr/>
          <p:nvPr/>
        </p:nvSpPr>
        <p:spPr>
          <a:xfrm>
            <a:off x="1920240" y="2907792"/>
            <a:ext cx="96012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965960" y="2953512"/>
            <a:ext cx="914400" cy="384048"/>
          </a:xfrm>
          <a:prstGeom prst="rect">
            <a:avLst/>
          </a:prstGeom>
          <a:noFill/>
        </p:spPr>
        <p:txBody>
          <a:bodyPr wrap="square">
            <a:spAutoFit/>
          </a:bodyPr>
          <a:lstStyle/>
          <a:p>
            <a:pPr algn="l"/>
            <a:r>
              <a:rPr sz="850" b="0" i="0">
                <a:solidFill>
                  <a:srgbClr val="1A1A2E"/>
                </a:solidFill>
              </a:rPr>
              <a:t>Fact</a:t>
            </a:r>
          </a:p>
        </p:txBody>
      </p:sp>
      <p:sp>
        <p:nvSpPr>
          <p:cNvPr id="58" name="Rectangle 57"/>
          <p:cNvSpPr/>
          <p:nvPr/>
        </p:nvSpPr>
        <p:spPr>
          <a:xfrm>
            <a:off x="2971800" y="2907792"/>
            <a:ext cx="6858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017520" y="2953512"/>
            <a:ext cx="640080" cy="384048"/>
          </a:xfrm>
          <a:prstGeom prst="rect">
            <a:avLst/>
          </a:prstGeom>
          <a:noFill/>
        </p:spPr>
        <p:txBody>
          <a:bodyPr wrap="square">
            <a:spAutoFit/>
          </a:bodyPr>
          <a:lstStyle/>
          <a:p>
            <a:pPr algn="l"/>
            <a:r>
              <a:rPr sz="850" b="0" i="0">
                <a:solidFill>
                  <a:srgbClr val="1A1A2E"/>
                </a:solidFill>
              </a:rPr>
              <a:t>40</a:t>
            </a:r>
          </a:p>
        </p:txBody>
      </p:sp>
      <p:sp>
        <p:nvSpPr>
          <p:cNvPr id="60" name="Rectangle 59"/>
          <p:cNvSpPr/>
          <p:nvPr/>
        </p:nvSpPr>
        <p:spPr>
          <a:xfrm>
            <a:off x="3749039" y="2907792"/>
            <a:ext cx="178308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794759" y="2953512"/>
            <a:ext cx="1737360" cy="384048"/>
          </a:xfrm>
          <a:prstGeom prst="rect">
            <a:avLst/>
          </a:prstGeom>
          <a:noFill/>
        </p:spPr>
        <p:txBody>
          <a:bodyPr wrap="square">
            <a:spAutoFit/>
          </a:bodyPr>
          <a:lstStyle/>
          <a:p>
            <a:pPr algn="l"/>
            <a:r>
              <a:rPr sz="850" b="0" i="0">
                <a:solidFill>
                  <a:srgbClr val="1A1A2E"/>
                </a:solidFill>
              </a:rPr>
              <a:t>amfi_code (PK)</a:t>
            </a:r>
          </a:p>
        </p:txBody>
      </p:sp>
      <p:sp>
        <p:nvSpPr>
          <p:cNvPr id="62" name="Rectangle 61"/>
          <p:cNvSpPr/>
          <p:nvPr/>
        </p:nvSpPr>
        <p:spPr>
          <a:xfrm>
            <a:off x="5669280" y="2907792"/>
            <a:ext cx="4279392"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715000" y="2953512"/>
            <a:ext cx="4233672" cy="384048"/>
          </a:xfrm>
          <a:prstGeom prst="rect">
            <a:avLst/>
          </a:prstGeom>
          <a:noFill/>
        </p:spPr>
        <p:txBody>
          <a:bodyPr wrap="square">
            <a:spAutoFit/>
          </a:bodyPr>
          <a:lstStyle/>
          <a:p>
            <a:pPr algn="l"/>
            <a:r>
              <a:rPr sz="850" b="0" i="0">
                <a:solidFill>
                  <a:srgbClr val="1A1A2E"/>
                </a:solidFill>
              </a:rPr>
              <a:t>CAGR, Sharpe, Alpha, Beta, Max Drawdown</a:t>
            </a:r>
          </a:p>
        </p:txBody>
      </p:sp>
      <p:sp>
        <p:nvSpPr>
          <p:cNvPr id="64" name="Rectangle 63"/>
          <p:cNvSpPr/>
          <p:nvPr/>
        </p:nvSpPr>
        <p:spPr>
          <a:xfrm>
            <a:off x="182880" y="3392424"/>
            <a:ext cx="1600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228600" y="3438144"/>
            <a:ext cx="1554480" cy="384048"/>
          </a:xfrm>
          <a:prstGeom prst="rect">
            <a:avLst/>
          </a:prstGeom>
          <a:noFill/>
        </p:spPr>
        <p:txBody>
          <a:bodyPr wrap="square">
            <a:spAutoFit/>
          </a:bodyPr>
          <a:lstStyle/>
          <a:p>
            <a:pPr algn="l"/>
            <a:r>
              <a:rPr sz="850" b="1" i="0">
                <a:solidFill>
                  <a:srgbClr val="1565C0"/>
                </a:solidFill>
              </a:rPr>
              <a:t>fact_aum</a:t>
            </a:r>
          </a:p>
        </p:txBody>
      </p:sp>
      <p:sp>
        <p:nvSpPr>
          <p:cNvPr id="66" name="Rectangle 65"/>
          <p:cNvSpPr/>
          <p:nvPr/>
        </p:nvSpPr>
        <p:spPr>
          <a:xfrm>
            <a:off x="1920240" y="3392424"/>
            <a:ext cx="9601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965960" y="3438144"/>
            <a:ext cx="914400" cy="384048"/>
          </a:xfrm>
          <a:prstGeom prst="rect">
            <a:avLst/>
          </a:prstGeom>
          <a:noFill/>
        </p:spPr>
        <p:txBody>
          <a:bodyPr wrap="square">
            <a:spAutoFit/>
          </a:bodyPr>
          <a:lstStyle/>
          <a:p>
            <a:pPr algn="l"/>
            <a:r>
              <a:rPr sz="850" b="0" i="0">
                <a:solidFill>
                  <a:srgbClr val="1A1A2E"/>
                </a:solidFill>
              </a:rPr>
              <a:t>Fact</a:t>
            </a:r>
          </a:p>
        </p:txBody>
      </p:sp>
      <p:sp>
        <p:nvSpPr>
          <p:cNvPr id="68" name="Rectangle 67"/>
          <p:cNvSpPr/>
          <p:nvPr/>
        </p:nvSpPr>
        <p:spPr>
          <a:xfrm>
            <a:off x="2971800" y="3392424"/>
            <a:ext cx="685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017520" y="3438144"/>
            <a:ext cx="640080" cy="384048"/>
          </a:xfrm>
          <a:prstGeom prst="rect">
            <a:avLst/>
          </a:prstGeom>
          <a:noFill/>
        </p:spPr>
        <p:txBody>
          <a:bodyPr wrap="square">
            <a:spAutoFit/>
          </a:bodyPr>
          <a:lstStyle/>
          <a:p>
            <a:pPr algn="l"/>
            <a:r>
              <a:rPr sz="850" b="0" i="0">
                <a:solidFill>
                  <a:srgbClr val="1A1A2E"/>
                </a:solidFill>
              </a:rPr>
              <a:t>90</a:t>
            </a:r>
          </a:p>
        </p:txBody>
      </p:sp>
      <p:sp>
        <p:nvSpPr>
          <p:cNvPr id="70" name="Rectangle 69"/>
          <p:cNvSpPr/>
          <p:nvPr/>
        </p:nvSpPr>
        <p:spPr>
          <a:xfrm>
            <a:off x="3749039" y="3392424"/>
            <a:ext cx="17830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794759" y="3438144"/>
            <a:ext cx="1737360" cy="384048"/>
          </a:xfrm>
          <a:prstGeom prst="rect">
            <a:avLst/>
          </a:prstGeom>
          <a:noFill/>
        </p:spPr>
        <p:txBody>
          <a:bodyPr wrap="square">
            <a:spAutoFit/>
          </a:bodyPr>
          <a:lstStyle/>
          <a:p>
            <a:pPr algn="l"/>
            <a:r>
              <a:rPr sz="850" b="0" i="0">
                <a:solidFill>
                  <a:srgbClr val="1A1A2E"/>
                </a:solidFill>
              </a:rPr>
              <a:t>auto</a:t>
            </a:r>
          </a:p>
        </p:txBody>
      </p:sp>
      <p:sp>
        <p:nvSpPr>
          <p:cNvPr id="72" name="Rectangle 71"/>
          <p:cNvSpPr/>
          <p:nvPr/>
        </p:nvSpPr>
        <p:spPr>
          <a:xfrm>
            <a:off x="5669280" y="3392424"/>
            <a:ext cx="427939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715000" y="3438144"/>
            <a:ext cx="4233672" cy="384048"/>
          </a:xfrm>
          <a:prstGeom prst="rect">
            <a:avLst/>
          </a:prstGeom>
          <a:noFill/>
        </p:spPr>
        <p:txBody>
          <a:bodyPr wrap="square">
            <a:spAutoFit/>
          </a:bodyPr>
          <a:lstStyle/>
          <a:p>
            <a:pPr algn="l"/>
            <a:r>
              <a:rPr sz="850" b="0" i="0">
                <a:solidFill>
                  <a:srgbClr val="1A1A2E"/>
                </a:solidFill>
              </a:rPr>
              <a:t>Quarterly AUM by AMC (₹ lakh crore)</a:t>
            </a:r>
          </a:p>
        </p:txBody>
      </p:sp>
      <p:sp>
        <p:nvSpPr>
          <p:cNvPr id="74" name="Rectangle 73"/>
          <p:cNvSpPr/>
          <p:nvPr/>
        </p:nvSpPr>
        <p:spPr>
          <a:xfrm>
            <a:off x="182880" y="3877056"/>
            <a:ext cx="16002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228600" y="3922776"/>
            <a:ext cx="1554480" cy="384048"/>
          </a:xfrm>
          <a:prstGeom prst="rect">
            <a:avLst/>
          </a:prstGeom>
          <a:noFill/>
        </p:spPr>
        <p:txBody>
          <a:bodyPr wrap="square">
            <a:spAutoFit/>
          </a:bodyPr>
          <a:lstStyle/>
          <a:p>
            <a:pPr algn="l"/>
            <a:r>
              <a:rPr sz="850" b="1" i="0">
                <a:solidFill>
                  <a:srgbClr val="1565C0"/>
                </a:solidFill>
              </a:rPr>
              <a:t>sip_inflows</a:t>
            </a:r>
          </a:p>
        </p:txBody>
      </p:sp>
      <p:sp>
        <p:nvSpPr>
          <p:cNvPr id="76" name="Rectangle 75"/>
          <p:cNvSpPr/>
          <p:nvPr/>
        </p:nvSpPr>
        <p:spPr>
          <a:xfrm>
            <a:off x="1920240" y="3877056"/>
            <a:ext cx="96012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965960" y="3922776"/>
            <a:ext cx="914400" cy="384048"/>
          </a:xfrm>
          <a:prstGeom prst="rect">
            <a:avLst/>
          </a:prstGeom>
          <a:noFill/>
        </p:spPr>
        <p:txBody>
          <a:bodyPr wrap="square">
            <a:spAutoFit/>
          </a:bodyPr>
          <a:lstStyle/>
          <a:p>
            <a:pPr algn="l"/>
            <a:r>
              <a:rPr sz="850" b="0" i="0">
                <a:solidFill>
                  <a:srgbClr val="1A1A2E"/>
                </a:solidFill>
              </a:rPr>
              <a:t>Supporting</a:t>
            </a:r>
          </a:p>
        </p:txBody>
      </p:sp>
      <p:sp>
        <p:nvSpPr>
          <p:cNvPr id="78" name="Rectangle 77"/>
          <p:cNvSpPr/>
          <p:nvPr/>
        </p:nvSpPr>
        <p:spPr>
          <a:xfrm>
            <a:off x="2971800" y="3877056"/>
            <a:ext cx="6858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017520" y="3922776"/>
            <a:ext cx="640080" cy="384048"/>
          </a:xfrm>
          <a:prstGeom prst="rect">
            <a:avLst/>
          </a:prstGeom>
          <a:noFill/>
        </p:spPr>
        <p:txBody>
          <a:bodyPr wrap="square">
            <a:spAutoFit/>
          </a:bodyPr>
          <a:lstStyle/>
          <a:p>
            <a:pPr algn="l"/>
            <a:r>
              <a:rPr sz="850" b="0" i="0">
                <a:solidFill>
                  <a:srgbClr val="1A1A2E"/>
                </a:solidFill>
              </a:rPr>
              <a:t>48</a:t>
            </a:r>
          </a:p>
        </p:txBody>
      </p:sp>
      <p:sp>
        <p:nvSpPr>
          <p:cNvPr id="80" name="Rectangle 79"/>
          <p:cNvSpPr/>
          <p:nvPr/>
        </p:nvSpPr>
        <p:spPr>
          <a:xfrm>
            <a:off x="3749039" y="3877056"/>
            <a:ext cx="178308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794759" y="3922776"/>
            <a:ext cx="1737360" cy="384048"/>
          </a:xfrm>
          <a:prstGeom prst="rect">
            <a:avLst/>
          </a:prstGeom>
          <a:noFill/>
        </p:spPr>
        <p:txBody>
          <a:bodyPr wrap="square">
            <a:spAutoFit/>
          </a:bodyPr>
          <a:lstStyle/>
          <a:p>
            <a:pPr algn="l"/>
            <a:r>
              <a:rPr sz="850" b="0" i="0">
                <a:solidFill>
                  <a:srgbClr val="1A1A2E"/>
                </a:solidFill>
              </a:rPr>
              <a:t>month (PK)</a:t>
            </a:r>
          </a:p>
        </p:txBody>
      </p:sp>
      <p:sp>
        <p:nvSpPr>
          <p:cNvPr id="82" name="Rectangle 81"/>
          <p:cNvSpPr/>
          <p:nvPr/>
        </p:nvSpPr>
        <p:spPr>
          <a:xfrm>
            <a:off x="5669280" y="3877056"/>
            <a:ext cx="4279392"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5715000" y="3922776"/>
            <a:ext cx="4233672" cy="384048"/>
          </a:xfrm>
          <a:prstGeom prst="rect">
            <a:avLst/>
          </a:prstGeom>
          <a:noFill/>
        </p:spPr>
        <p:txBody>
          <a:bodyPr wrap="square">
            <a:spAutoFit/>
          </a:bodyPr>
          <a:lstStyle/>
          <a:p>
            <a:pPr algn="l"/>
            <a:r>
              <a:rPr sz="850" b="0" i="0">
                <a:solidFill>
                  <a:srgbClr val="1A1A2E"/>
                </a:solidFill>
              </a:rPr>
              <a:t>Industry monthly SIP statistics</a:t>
            </a:r>
          </a:p>
        </p:txBody>
      </p:sp>
      <p:sp>
        <p:nvSpPr>
          <p:cNvPr id="84" name="Rectangle 83"/>
          <p:cNvSpPr/>
          <p:nvPr/>
        </p:nvSpPr>
        <p:spPr>
          <a:xfrm>
            <a:off x="182880" y="4361688"/>
            <a:ext cx="1600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228600" y="4407407"/>
            <a:ext cx="1554480" cy="384048"/>
          </a:xfrm>
          <a:prstGeom prst="rect">
            <a:avLst/>
          </a:prstGeom>
          <a:noFill/>
        </p:spPr>
        <p:txBody>
          <a:bodyPr wrap="square">
            <a:spAutoFit/>
          </a:bodyPr>
          <a:lstStyle/>
          <a:p>
            <a:pPr algn="l"/>
            <a:r>
              <a:rPr sz="850" b="1" i="0">
                <a:solidFill>
                  <a:srgbClr val="1565C0"/>
                </a:solidFill>
              </a:rPr>
              <a:t>category_inflows</a:t>
            </a:r>
          </a:p>
        </p:txBody>
      </p:sp>
      <p:sp>
        <p:nvSpPr>
          <p:cNvPr id="86" name="Rectangle 85"/>
          <p:cNvSpPr/>
          <p:nvPr/>
        </p:nvSpPr>
        <p:spPr>
          <a:xfrm>
            <a:off x="1920240" y="4361688"/>
            <a:ext cx="9601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1965960" y="4407407"/>
            <a:ext cx="914400" cy="384048"/>
          </a:xfrm>
          <a:prstGeom prst="rect">
            <a:avLst/>
          </a:prstGeom>
          <a:noFill/>
        </p:spPr>
        <p:txBody>
          <a:bodyPr wrap="square">
            <a:spAutoFit/>
          </a:bodyPr>
          <a:lstStyle/>
          <a:p>
            <a:pPr algn="l"/>
            <a:r>
              <a:rPr sz="850" b="0" i="0">
                <a:solidFill>
                  <a:srgbClr val="1A1A2E"/>
                </a:solidFill>
              </a:rPr>
              <a:t>Supporting</a:t>
            </a:r>
          </a:p>
        </p:txBody>
      </p:sp>
      <p:sp>
        <p:nvSpPr>
          <p:cNvPr id="88" name="Rectangle 87"/>
          <p:cNvSpPr/>
          <p:nvPr/>
        </p:nvSpPr>
        <p:spPr>
          <a:xfrm>
            <a:off x="2971800" y="4361688"/>
            <a:ext cx="685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017520" y="4407407"/>
            <a:ext cx="640080" cy="384048"/>
          </a:xfrm>
          <a:prstGeom prst="rect">
            <a:avLst/>
          </a:prstGeom>
          <a:noFill/>
        </p:spPr>
        <p:txBody>
          <a:bodyPr wrap="square">
            <a:spAutoFit/>
          </a:bodyPr>
          <a:lstStyle/>
          <a:p>
            <a:pPr algn="l"/>
            <a:r>
              <a:rPr sz="850" b="0" i="0">
                <a:solidFill>
                  <a:srgbClr val="1A1A2E"/>
                </a:solidFill>
              </a:rPr>
              <a:t>144</a:t>
            </a:r>
          </a:p>
        </p:txBody>
      </p:sp>
      <p:sp>
        <p:nvSpPr>
          <p:cNvPr id="90" name="Rectangle 89"/>
          <p:cNvSpPr/>
          <p:nvPr/>
        </p:nvSpPr>
        <p:spPr>
          <a:xfrm>
            <a:off x="3749039" y="4361688"/>
            <a:ext cx="17830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3794759" y="4407407"/>
            <a:ext cx="1737360" cy="384048"/>
          </a:xfrm>
          <a:prstGeom prst="rect">
            <a:avLst/>
          </a:prstGeom>
          <a:noFill/>
        </p:spPr>
        <p:txBody>
          <a:bodyPr wrap="square">
            <a:spAutoFit/>
          </a:bodyPr>
          <a:lstStyle/>
          <a:p>
            <a:pPr algn="l"/>
            <a:r>
              <a:rPr sz="850" b="0" i="0">
                <a:solidFill>
                  <a:srgbClr val="1A1A2E"/>
                </a:solidFill>
              </a:rPr>
              <a:t>auto</a:t>
            </a:r>
          </a:p>
        </p:txBody>
      </p:sp>
      <p:sp>
        <p:nvSpPr>
          <p:cNvPr id="92" name="Rectangle 91"/>
          <p:cNvSpPr/>
          <p:nvPr/>
        </p:nvSpPr>
        <p:spPr>
          <a:xfrm>
            <a:off x="5669280" y="4361688"/>
            <a:ext cx="427939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5715000" y="4407407"/>
            <a:ext cx="4233672" cy="384048"/>
          </a:xfrm>
          <a:prstGeom prst="rect">
            <a:avLst/>
          </a:prstGeom>
          <a:noFill/>
        </p:spPr>
        <p:txBody>
          <a:bodyPr wrap="square">
            <a:spAutoFit/>
          </a:bodyPr>
          <a:lstStyle/>
          <a:p>
            <a:pPr algn="l"/>
            <a:r>
              <a:rPr sz="850" b="0" i="0">
                <a:solidFill>
                  <a:srgbClr val="1A1A2E"/>
                </a:solidFill>
              </a:rPr>
              <a:t>Net inflows by fund category per month</a:t>
            </a:r>
          </a:p>
        </p:txBody>
      </p:sp>
      <p:sp>
        <p:nvSpPr>
          <p:cNvPr id="94" name="Rectangle 93"/>
          <p:cNvSpPr/>
          <p:nvPr/>
        </p:nvSpPr>
        <p:spPr>
          <a:xfrm>
            <a:off x="182880" y="4846320"/>
            <a:ext cx="16002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28600" y="4892040"/>
            <a:ext cx="1554480" cy="384048"/>
          </a:xfrm>
          <a:prstGeom prst="rect">
            <a:avLst/>
          </a:prstGeom>
          <a:noFill/>
        </p:spPr>
        <p:txBody>
          <a:bodyPr wrap="square">
            <a:spAutoFit/>
          </a:bodyPr>
          <a:lstStyle/>
          <a:p>
            <a:pPr algn="l"/>
            <a:r>
              <a:rPr sz="850" b="1" i="0">
                <a:solidFill>
                  <a:srgbClr val="1565C0"/>
                </a:solidFill>
              </a:rPr>
              <a:t>folio_count</a:t>
            </a:r>
          </a:p>
        </p:txBody>
      </p:sp>
      <p:sp>
        <p:nvSpPr>
          <p:cNvPr id="96" name="Rectangle 95"/>
          <p:cNvSpPr/>
          <p:nvPr/>
        </p:nvSpPr>
        <p:spPr>
          <a:xfrm>
            <a:off x="1920240" y="4846320"/>
            <a:ext cx="96012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965960" y="4892040"/>
            <a:ext cx="914400" cy="384048"/>
          </a:xfrm>
          <a:prstGeom prst="rect">
            <a:avLst/>
          </a:prstGeom>
          <a:noFill/>
        </p:spPr>
        <p:txBody>
          <a:bodyPr wrap="square">
            <a:spAutoFit/>
          </a:bodyPr>
          <a:lstStyle/>
          <a:p>
            <a:pPr algn="l"/>
            <a:r>
              <a:rPr sz="850" b="0" i="0">
                <a:solidFill>
                  <a:srgbClr val="1A1A2E"/>
                </a:solidFill>
              </a:rPr>
              <a:t>Supporting</a:t>
            </a:r>
          </a:p>
        </p:txBody>
      </p:sp>
      <p:sp>
        <p:nvSpPr>
          <p:cNvPr id="98" name="Rectangle 97"/>
          <p:cNvSpPr/>
          <p:nvPr/>
        </p:nvSpPr>
        <p:spPr>
          <a:xfrm>
            <a:off x="2971800" y="4846320"/>
            <a:ext cx="6858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3017520" y="4892040"/>
            <a:ext cx="640080" cy="384048"/>
          </a:xfrm>
          <a:prstGeom prst="rect">
            <a:avLst/>
          </a:prstGeom>
          <a:noFill/>
        </p:spPr>
        <p:txBody>
          <a:bodyPr wrap="square">
            <a:spAutoFit/>
          </a:bodyPr>
          <a:lstStyle/>
          <a:p>
            <a:pPr algn="l"/>
            <a:r>
              <a:rPr sz="850" b="0" i="0">
                <a:solidFill>
                  <a:srgbClr val="1A1A2E"/>
                </a:solidFill>
              </a:rPr>
              <a:t>21</a:t>
            </a:r>
          </a:p>
        </p:txBody>
      </p:sp>
      <p:sp>
        <p:nvSpPr>
          <p:cNvPr id="100" name="Rectangle 99"/>
          <p:cNvSpPr/>
          <p:nvPr/>
        </p:nvSpPr>
        <p:spPr>
          <a:xfrm>
            <a:off x="3749039" y="4846320"/>
            <a:ext cx="178308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794759" y="4892040"/>
            <a:ext cx="1737360" cy="384048"/>
          </a:xfrm>
          <a:prstGeom prst="rect">
            <a:avLst/>
          </a:prstGeom>
          <a:noFill/>
        </p:spPr>
        <p:txBody>
          <a:bodyPr wrap="square">
            <a:spAutoFit/>
          </a:bodyPr>
          <a:lstStyle/>
          <a:p>
            <a:pPr algn="l"/>
            <a:r>
              <a:rPr sz="850" b="0" i="0">
                <a:solidFill>
                  <a:srgbClr val="1A1A2E"/>
                </a:solidFill>
              </a:rPr>
              <a:t>month (PK)</a:t>
            </a:r>
          </a:p>
        </p:txBody>
      </p:sp>
      <p:sp>
        <p:nvSpPr>
          <p:cNvPr id="102" name="Rectangle 101"/>
          <p:cNvSpPr/>
          <p:nvPr/>
        </p:nvSpPr>
        <p:spPr>
          <a:xfrm>
            <a:off x="5669280" y="4846320"/>
            <a:ext cx="4279392"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5715000" y="4892040"/>
            <a:ext cx="4233672" cy="384048"/>
          </a:xfrm>
          <a:prstGeom prst="rect">
            <a:avLst/>
          </a:prstGeom>
          <a:noFill/>
        </p:spPr>
        <p:txBody>
          <a:bodyPr wrap="square">
            <a:spAutoFit/>
          </a:bodyPr>
          <a:lstStyle/>
          <a:p>
            <a:pPr algn="l"/>
            <a:r>
              <a:rPr sz="850" b="0" i="0">
                <a:solidFill>
                  <a:srgbClr val="1A1A2E"/>
                </a:solidFill>
              </a:rPr>
              <a:t>Total MF investor accounts over time</a:t>
            </a:r>
          </a:p>
        </p:txBody>
      </p:sp>
      <p:sp>
        <p:nvSpPr>
          <p:cNvPr id="104" name="Rectangle 103"/>
          <p:cNvSpPr/>
          <p:nvPr/>
        </p:nvSpPr>
        <p:spPr>
          <a:xfrm>
            <a:off x="182880" y="5330952"/>
            <a:ext cx="16002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228600" y="5376672"/>
            <a:ext cx="1554480" cy="384048"/>
          </a:xfrm>
          <a:prstGeom prst="rect">
            <a:avLst/>
          </a:prstGeom>
          <a:noFill/>
        </p:spPr>
        <p:txBody>
          <a:bodyPr wrap="square">
            <a:spAutoFit/>
          </a:bodyPr>
          <a:lstStyle/>
          <a:p>
            <a:pPr algn="l"/>
            <a:r>
              <a:rPr sz="850" b="1" i="0">
                <a:solidFill>
                  <a:srgbClr val="1565C0"/>
                </a:solidFill>
              </a:rPr>
              <a:t>portfolio_holdings</a:t>
            </a:r>
          </a:p>
        </p:txBody>
      </p:sp>
      <p:sp>
        <p:nvSpPr>
          <p:cNvPr id="106" name="Rectangle 105"/>
          <p:cNvSpPr/>
          <p:nvPr/>
        </p:nvSpPr>
        <p:spPr>
          <a:xfrm>
            <a:off x="1920240" y="5330952"/>
            <a:ext cx="96012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1965960" y="5376672"/>
            <a:ext cx="914400" cy="384048"/>
          </a:xfrm>
          <a:prstGeom prst="rect">
            <a:avLst/>
          </a:prstGeom>
          <a:noFill/>
        </p:spPr>
        <p:txBody>
          <a:bodyPr wrap="square">
            <a:spAutoFit/>
          </a:bodyPr>
          <a:lstStyle/>
          <a:p>
            <a:pPr algn="l"/>
            <a:r>
              <a:rPr sz="850" b="0" i="0">
                <a:solidFill>
                  <a:srgbClr val="1A1A2E"/>
                </a:solidFill>
              </a:rPr>
              <a:t>Supporting</a:t>
            </a:r>
          </a:p>
        </p:txBody>
      </p:sp>
      <p:sp>
        <p:nvSpPr>
          <p:cNvPr id="108" name="Rectangle 107"/>
          <p:cNvSpPr/>
          <p:nvPr/>
        </p:nvSpPr>
        <p:spPr>
          <a:xfrm>
            <a:off x="2971800" y="5330952"/>
            <a:ext cx="68580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017520" y="5376672"/>
            <a:ext cx="640080" cy="384048"/>
          </a:xfrm>
          <a:prstGeom prst="rect">
            <a:avLst/>
          </a:prstGeom>
          <a:noFill/>
        </p:spPr>
        <p:txBody>
          <a:bodyPr wrap="square">
            <a:spAutoFit/>
          </a:bodyPr>
          <a:lstStyle/>
          <a:p>
            <a:pPr algn="l"/>
            <a:r>
              <a:rPr sz="850" b="0" i="0">
                <a:solidFill>
                  <a:srgbClr val="1A1A2E"/>
                </a:solidFill>
              </a:rPr>
              <a:t>322</a:t>
            </a:r>
          </a:p>
        </p:txBody>
      </p:sp>
      <p:sp>
        <p:nvSpPr>
          <p:cNvPr id="110" name="Rectangle 109"/>
          <p:cNvSpPr/>
          <p:nvPr/>
        </p:nvSpPr>
        <p:spPr>
          <a:xfrm>
            <a:off x="3749039" y="5330952"/>
            <a:ext cx="1783080"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3794759" y="5376672"/>
            <a:ext cx="1737360" cy="384048"/>
          </a:xfrm>
          <a:prstGeom prst="rect">
            <a:avLst/>
          </a:prstGeom>
          <a:noFill/>
        </p:spPr>
        <p:txBody>
          <a:bodyPr wrap="square">
            <a:spAutoFit/>
          </a:bodyPr>
          <a:lstStyle/>
          <a:p>
            <a:pPr algn="l"/>
            <a:r>
              <a:rPr sz="850" b="0" i="0">
                <a:solidFill>
                  <a:srgbClr val="1A1A2E"/>
                </a:solidFill>
              </a:rPr>
              <a:t>auto</a:t>
            </a:r>
          </a:p>
        </p:txBody>
      </p:sp>
      <p:sp>
        <p:nvSpPr>
          <p:cNvPr id="112" name="Rectangle 111"/>
          <p:cNvSpPr/>
          <p:nvPr/>
        </p:nvSpPr>
        <p:spPr>
          <a:xfrm>
            <a:off x="5669280" y="5330952"/>
            <a:ext cx="4279392" cy="457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715000" y="5376672"/>
            <a:ext cx="4233672" cy="384048"/>
          </a:xfrm>
          <a:prstGeom prst="rect">
            <a:avLst/>
          </a:prstGeom>
          <a:noFill/>
        </p:spPr>
        <p:txBody>
          <a:bodyPr wrap="square">
            <a:spAutoFit/>
          </a:bodyPr>
          <a:lstStyle/>
          <a:p>
            <a:pPr algn="l"/>
            <a:r>
              <a:rPr sz="850" b="0" i="0">
                <a:solidFill>
                  <a:srgbClr val="1A1A2E"/>
                </a:solidFill>
              </a:rPr>
              <a:t>Top stock holdings per equity fund</a:t>
            </a:r>
          </a:p>
        </p:txBody>
      </p:sp>
      <p:sp>
        <p:nvSpPr>
          <p:cNvPr id="114" name="Rectangle 113"/>
          <p:cNvSpPr/>
          <p:nvPr/>
        </p:nvSpPr>
        <p:spPr>
          <a:xfrm>
            <a:off x="182880" y="5815584"/>
            <a:ext cx="16002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228600" y="5861304"/>
            <a:ext cx="1554480" cy="384048"/>
          </a:xfrm>
          <a:prstGeom prst="rect">
            <a:avLst/>
          </a:prstGeom>
          <a:noFill/>
        </p:spPr>
        <p:txBody>
          <a:bodyPr wrap="square">
            <a:spAutoFit/>
          </a:bodyPr>
          <a:lstStyle/>
          <a:p>
            <a:pPr algn="l"/>
            <a:r>
              <a:rPr sz="850" b="1" i="0">
                <a:solidFill>
                  <a:srgbClr val="1565C0"/>
                </a:solidFill>
              </a:rPr>
              <a:t>benchmark_indices</a:t>
            </a:r>
          </a:p>
        </p:txBody>
      </p:sp>
      <p:sp>
        <p:nvSpPr>
          <p:cNvPr id="116" name="Rectangle 115"/>
          <p:cNvSpPr/>
          <p:nvPr/>
        </p:nvSpPr>
        <p:spPr>
          <a:xfrm>
            <a:off x="1920240" y="5815584"/>
            <a:ext cx="96012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965960" y="5861304"/>
            <a:ext cx="914400" cy="384048"/>
          </a:xfrm>
          <a:prstGeom prst="rect">
            <a:avLst/>
          </a:prstGeom>
          <a:noFill/>
        </p:spPr>
        <p:txBody>
          <a:bodyPr wrap="square">
            <a:spAutoFit/>
          </a:bodyPr>
          <a:lstStyle/>
          <a:p>
            <a:pPr algn="l"/>
            <a:r>
              <a:rPr sz="850" b="0" i="0">
                <a:solidFill>
                  <a:srgbClr val="1A1A2E"/>
                </a:solidFill>
              </a:rPr>
              <a:t>Supporting</a:t>
            </a:r>
          </a:p>
        </p:txBody>
      </p:sp>
      <p:sp>
        <p:nvSpPr>
          <p:cNvPr id="118" name="Rectangle 117"/>
          <p:cNvSpPr/>
          <p:nvPr/>
        </p:nvSpPr>
        <p:spPr>
          <a:xfrm>
            <a:off x="2971800" y="5815584"/>
            <a:ext cx="68580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TextBox 118"/>
          <p:cNvSpPr txBox="1"/>
          <p:nvPr/>
        </p:nvSpPr>
        <p:spPr>
          <a:xfrm>
            <a:off x="3017520" y="5861304"/>
            <a:ext cx="640080" cy="384048"/>
          </a:xfrm>
          <a:prstGeom prst="rect">
            <a:avLst/>
          </a:prstGeom>
          <a:noFill/>
        </p:spPr>
        <p:txBody>
          <a:bodyPr wrap="square">
            <a:spAutoFit/>
          </a:bodyPr>
          <a:lstStyle/>
          <a:p>
            <a:pPr algn="l"/>
            <a:r>
              <a:rPr sz="850" b="0" i="0">
                <a:solidFill>
                  <a:srgbClr val="1A1A2E"/>
                </a:solidFill>
              </a:rPr>
              <a:t>8,050</a:t>
            </a:r>
          </a:p>
        </p:txBody>
      </p:sp>
      <p:sp>
        <p:nvSpPr>
          <p:cNvPr id="120" name="Rectangle 119"/>
          <p:cNvSpPr/>
          <p:nvPr/>
        </p:nvSpPr>
        <p:spPr>
          <a:xfrm>
            <a:off x="3749039" y="5815584"/>
            <a:ext cx="1783080"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3794759" y="5861304"/>
            <a:ext cx="1737360" cy="384048"/>
          </a:xfrm>
          <a:prstGeom prst="rect">
            <a:avLst/>
          </a:prstGeom>
          <a:noFill/>
        </p:spPr>
        <p:txBody>
          <a:bodyPr wrap="square">
            <a:spAutoFit/>
          </a:bodyPr>
          <a:lstStyle/>
          <a:p>
            <a:pPr algn="l"/>
            <a:r>
              <a:rPr sz="850" b="0" i="0">
                <a:solidFill>
                  <a:srgbClr val="1A1A2E"/>
                </a:solidFill>
              </a:rPr>
              <a:t>auto</a:t>
            </a:r>
          </a:p>
        </p:txBody>
      </p:sp>
      <p:sp>
        <p:nvSpPr>
          <p:cNvPr id="122" name="Rectangle 121"/>
          <p:cNvSpPr/>
          <p:nvPr/>
        </p:nvSpPr>
        <p:spPr>
          <a:xfrm>
            <a:off x="5669280" y="5815584"/>
            <a:ext cx="4279392" cy="45720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TextBox 122"/>
          <p:cNvSpPr txBox="1"/>
          <p:nvPr/>
        </p:nvSpPr>
        <p:spPr>
          <a:xfrm>
            <a:off x="5715000" y="5861304"/>
            <a:ext cx="4233672" cy="384048"/>
          </a:xfrm>
          <a:prstGeom prst="rect">
            <a:avLst/>
          </a:prstGeom>
          <a:noFill/>
        </p:spPr>
        <p:txBody>
          <a:bodyPr wrap="square">
            <a:spAutoFit/>
          </a:bodyPr>
          <a:lstStyle/>
          <a:p>
            <a:pPr algn="l"/>
            <a:r>
              <a:rPr sz="850" b="0" i="0">
                <a:solidFill>
                  <a:srgbClr val="1A1A2E"/>
                </a:solidFill>
              </a:rPr>
              <a:t>Nifty 50/100/Midcap150/BSESmallCap daily</a:t>
            </a:r>
          </a:p>
        </p:txBody>
      </p:sp>
      <p:sp>
        <p:nvSpPr>
          <p:cNvPr id="124" name="Rectangle 123"/>
          <p:cNvSpPr/>
          <p:nvPr/>
        </p:nvSpPr>
        <p:spPr>
          <a:xfrm>
            <a:off x="182880" y="6300216"/>
            <a:ext cx="9994392" cy="29260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TextBox 124"/>
          <p:cNvSpPr txBox="1"/>
          <p:nvPr/>
        </p:nvSpPr>
        <p:spPr>
          <a:xfrm>
            <a:off x="274320" y="6345936"/>
            <a:ext cx="9811512" cy="228600"/>
          </a:xfrm>
          <a:prstGeom prst="rect">
            <a:avLst/>
          </a:prstGeom>
          <a:noFill/>
        </p:spPr>
        <p:txBody>
          <a:bodyPr wrap="square">
            <a:spAutoFit/>
          </a:bodyPr>
          <a:lstStyle/>
          <a:p>
            <a:pPr algn="l"/>
            <a:r>
              <a:rPr sz="950" b="1" i="0">
                <a:solidFill>
                  <a:srgbClr val="FFFFFF"/>
                </a:solidFill>
              </a:rPr>
              <a:t>TOTAL  ·  11 tables  ·  89,359 rows  ·  Indexed on amfi_code + date for fast BI queries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411480"/>
          </a:xfrm>
          <a:prstGeom prst="rect">
            <a:avLst/>
          </a:prstGeom>
          <a:noFill/>
        </p:spPr>
        <p:txBody>
          <a:bodyPr wrap="square">
            <a:spAutoFit/>
          </a:bodyPr>
          <a:lstStyle/>
          <a:p>
            <a:pPr algn="l"/>
            <a:r>
              <a:rPr sz="2000" b="1" i="0">
                <a:solidFill>
                  <a:srgbClr val="FFFFFF"/>
                </a:solidFill>
              </a:rPr>
              <a:t>EDA Highlights — Indian MF Industry Trends</a:t>
            </a:r>
          </a:p>
        </p:txBody>
      </p:sp>
      <p:sp>
        <p:nvSpPr>
          <p:cNvPr id="4" name="Rectangle 3"/>
          <p:cNvSpPr/>
          <p:nvPr/>
        </p:nvSpPr>
        <p:spPr>
          <a:xfrm>
            <a:off x="182880" y="658368"/>
            <a:ext cx="2788920" cy="118872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6888" y="731519"/>
            <a:ext cx="2660903" cy="653796"/>
          </a:xfrm>
          <a:prstGeom prst="rect">
            <a:avLst/>
          </a:prstGeom>
          <a:noFill/>
        </p:spPr>
        <p:txBody>
          <a:bodyPr wrap="square">
            <a:spAutoFit/>
          </a:bodyPr>
          <a:lstStyle/>
          <a:p>
            <a:pPr algn="ctr"/>
            <a:r>
              <a:rPr sz="2000" b="1" i="0">
                <a:solidFill>
                  <a:srgbClr val="FFFFFF"/>
                </a:solidFill>
              </a:rPr>
              <a:t>₹81 Lakh Cr</a:t>
            </a:r>
          </a:p>
        </p:txBody>
      </p:sp>
      <p:sp>
        <p:nvSpPr>
          <p:cNvPr id="6" name="TextBox 5"/>
          <p:cNvSpPr txBox="1"/>
          <p:nvPr/>
        </p:nvSpPr>
        <p:spPr>
          <a:xfrm>
            <a:off x="246888" y="1347825"/>
            <a:ext cx="2660903" cy="451713"/>
          </a:xfrm>
          <a:prstGeom prst="rect">
            <a:avLst/>
          </a:prstGeom>
          <a:noFill/>
        </p:spPr>
        <p:txBody>
          <a:bodyPr wrap="square">
            <a:spAutoFit/>
          </a:bodyPr>
          <a:lstStyle/>
          <a:p>
            <a:pPr algn="ctr"/>
            <a:r>
              <a:rPr sz="900" b="0" i="0">
                <a:solidFill>
                  <a:srgbClr val="CADCFC"/>
                </a:solidFill>
              </a:rPr>
              <a:t>Industry AUM
(Dec 2025)</a:t>
            </a:r>
          </a:p>
        </p:txBody>
      </p:sp>
      <p:sp>
        <p:nvSpPr>
          <p:cNvPr id="7" name="Rectangle 6"/>
          <p:cNvSpPr/>
          <p:nvPr/>
        </p:nvSpPr>
        <p:spPr>
          <a:xfrm>
            <a:off x="3154680" y="658368"/>
            <a:ext cx="2788920" cy="118872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18688" y="731519"/>
            <a:ext cx="2660903" cy="653796"/>
          </a:xfrm>
          <a:prstGeom prst="rect">
            <a:avLst/>
          </a:prstGeom>
          <a:noFill/>
        </p:spPr>
        <p:txBody>
          <a:bodyPr wrap="square">
            <a:spAutoFit/>
          </a:bodyPr>
          <a:lstStyle/>
          <a:p>
            <a:pPr algn="ctr"/>
            <a:r>
              <a:rPr sz="2000" b="1" i="0">
                <a:solidFill>
                  <a:srgbClr val="FFFFFF"/>
                </a:solidFill>
              </a:rPr>
              <a:t>₹31,002 Cr</a:t>
            </a:r>
          </a:p>
        </p:txBody>
      </p:sp>
      <p:sp>
        <p:nvSpPr>
          <p:cNvPr id="9" name="TextBox 8"/>
          <p:cNvSpPr txBox="1"/>
          <p:nvPr/>
        </p:nvSpPr>
        <p:spPr>
          <a:xfrm>
            <a:off x="3218688" y="1347825"/>
            <a:ext cx="2660903" cy="451713"/>
          </a:xfrm>
          <a:prstGeom prst="rect">
            <a:avLst/>
          </a:prstGeom>
          <a:noFill/>
        </p:spPr>
        <p:txBody>
          <a:bodyPr wrap="square">
            <a:spAutoFit/>
          </a:bodyPr>
          <a:lstStyle/>
          <a:p>
            <a:pPr algn="ctr"/>
            <a:r>
              <a:rPr sz="900" b="0" i="0">
                <a:solidFill>
                  <a:srgbClr val="CADCFC"/>
                </a:solidFill>
              </a:rPr>
              <a:t>Peak SIP Inflow
(Dec 2025 — ATH)</a:t>
            </a:r>
          </a:p>
        </p:txBody>
      </p:sp>
      <p:sp>
        <p:nvSpPr>
          <p:cNvPr id="10" name="Rectangle 9"/>
          <p:cNvSpPr/>
          <p:nvPr/>
        </p:nvSpPr>
        <p:spPr>
          <a:xfrm>
            <a:off x="6126480" y="658368"/>
            <a:ext cx="2788920" cy="11887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90488" y="731519"/>
            <a:ext cx="2660903" cy="653796"/>
          </a:xfrm>
          <a:prstGeom prst="rect">
            <a:avLst/>
          </a:prstGeom>
          <a:noFill/>
        </p:spPr>
        <p:txBody>
          <a:bodyPr wrap="square">
            <a:spAutoFit/>
          </a:bodyPr>
          <a:lstStyle/>
          <a:p>
            <a:pPr algn="ctr"/>
            <a:r>
              <a:rPr sz="2000" b="1" i="0">
                <a:solidFill>
                  <a:srgbClr val="FFFFFF"/>
                </a:solidFill>
              </a:rPr>
              <a:t>26.12 Crore</a:t>
            </a:r>
          </a:p>
        </p:txBody>
      </p:sp>
      <p:sp>
        <p:nvSpPr>
          <p:cNvPr id="12" name="TextBox 11"/>
          <p:cNvSpPr txBox="1"/>
          <p:nvPr/>
        </p:nvSpPr>
        <p:spPr>
          <a:xfrm>
            <a:off x="6190488" y="1347825"/>
            <a:ext cx="2660903" cy="451713"/>
          </a:xfrm>
          <a:prstGeom prst="rect">
            <a:avLst/>
          </a:prstGeom>
          <a:noFill/>
        </p:spPr>
        <p:txBody>
          <a:bodyPr wrap="square">
            <a:spAutoFit/>
          </a:bodyPr>
          <a:lstStyle/>
          <a:p>
            <a:pPr algn="ctr"/>
            <a:r>
              <a:rPr sz="900" b="0" i="0">
                <a:solidFill>
                  <a:srgbClr val="CADCFC"/>
                </a:solidFill>
              </a:rPr>
              <a:t>Total MF Folios
(+97% vs 2022)</a:t>
            </a:r>
          </a:p>
        </p:txBody>
      </p:sp>
      <p:sp>
        <p:nvSpPr>
          <p:cNvPr id="13" name="Rectangle 12"/>
          <p:cNvSpPr/>
          <p:nvPr/>
        </p:nvSpPr>
        <p:spPr>
          <a:xfrm>
            <a:off x="9098280" y="658368"/>
            <a:ext cx="2788920" cy="118872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62288" y="731519"/>
            <a:ext cx="2660903" cy="653796"/>
          </a:xfrm>
          <a:prstGeom prst="rect">
            <a:avLst/>
          </a:prstGeom>
          <a:noFill/>
        </p:spPr>
        <p:txBody>
          <a:bodyPr wrap="square">
            <a:spAutoFit/>
          </a:bodyPr>
          <a:lstStyle/>
          <a:p>
            <a:pPr algn="ctr"/>
            <a:r>
              <a:rPr sz="2000" b="1" i="0">
                <a:solidFill>
                  <a:srgbClr val="FFFFFF"/>
                </a:solidFill>
              </a:rPr>
              <a:t>169%</a:t>
            </a:r>
          </a:p>
        </p:txBody>
      </p:sp>
      <p:sp>
        <p:nvSpPr>
          <p:cNvPr id="15" name="TextBox 14"/>
          <p:cNvSpPr txBox="1"/>
          <p:nvPr/>
        </p:nvSpPr>
        <p:spPr>
          <a:xfrm>
            <a:off x="9162288" y="1347825"/>
            <a:ext cx="2660903" cy="451713"/>
          </a:xfrm>
          <a:prstGeom prst="rect">
            <a:avLst/>
          </a:prstGeom>
          <a:noFill/>
        </p:spPr>
        <p:txBody>
          <a:bodyPr wrap="square">
            <a:spAutoFit/>
          </a:bodyPr>
          <a:lstStyle/>
          <a:p>
            <a:pPr algn="ctr"/>
            <a:r>
              <a:rPr sz="900" b="0" i="0">
                <a:solidFill>
                  <a:srgbClr val="CADCFC"/>
                </a:solidFill>
              </a:rPr>
              <a:t>SIP Inflow Growth
(Jan 2022 → Dec 2025)</a:t>
            </a:r>
          </a:p>
        </p:txBody>
      </p:sp>
      <p:sp>
        <p:nvSpPr>
          <p:cNvPr id="16" name="Rectangle 15"/>
          <p:cNvSpPr/>
          <p:nvPr/>
        </p:nvSpPr>
        <p:spPr>
          <a:xfrm>
            <a:off x="182880" y="1965960"/>
            <a:ext cx="58064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1965960"/>
            <a:ext cx="5806440" cy="3200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0040" y="2011680"/>
            <a:ext cx="5486400" cy="256032"/>
          </a:xfrm>
          <a:prstGeom prst="rect">
            <a:avLst/>
          </a:prstGeom>
          <a:noFill/>
        </p:spPr>
        <p:txBody>
          <a:bodyPr wrap="square">
            <a:spAutoFit/>
          </a:bodyPr>
          <a:lstStyle/>
          <a:p>
            <a:pPr algn="l"/>
            <a:r>
              <a:rPr sz="1100" b="1" i="0">
                <a:solidFill>
                  <a:srgbClr val="FFFFFF"/>
                </a:solidFill>
              </a:rPr>
              <a:t>📈  SIP Inflow Trend (Chart 03a)</a:t>
            </a:r>
          </a:p>
        </p:txBody>
      </p:sp>
      <p:sp>
        <p:nvSpPr>
          <p:cNvPr id="19" name="TextBox 18"/>
          <p:cNvSpPr txBox="1"/>
          <p:nvPr/>
        </p:nvSpPr>
        <p:spPr>
          <a:xfrm>
            <a:off x="274320" y="2359152"/>
            <a:ext cx="5623560" cy="1828800"/>
          </a:xfrm>
          <a:prstGeom prst="rect">
            <a:avLst/>
          </a:prstGeom>
          <a:noFill/>
        </p:spPr>
        <p:txBody>
          <a:bodyPr wrap="square">
            <a:spAutoFit/>
          </a:bodyPr>
          <a:lstStyle/>
          <a:p>
            <a:pPr>
              <a:spcBef>
                <a:spcPts val="300"/>
              </a:spcBef>
            </a:pPr>
            <a:r>
              <a:rPr sz="1100">
                <a:solidFill>
                  <a:srgbClr val="1A1A2E"/>
                </a:solidFill>
              </a:rPr>
              <a:t>▸  Jan 2022: ₹11,517 Cr  →  Dec 2025: ₹31,002 Cr</a:t>
            </a:r>
          </a:p>
          <a:p>
            <a:pPr>
              <a:spcBef>
                <a:spcPts val="300"/>
              </a:spcBef>
            </a:pPr>
            <a:r>
              <a:rPr sz="1100">
                <a:solidFill>
                  <a:srgbClr val="1A1A2E"/>
                </a:solidFill>
              </a:rPr>
              <a:t>▸  Consistent upward trend with no single-month decline</a:t>
            </a:r>
          </a:p>
          <a:p>
            <a:pPr>
              <a:spcBef>
                <a:spcPts val="300"/>
              </a:spcBef>
            </a:pPr>
            <a:r>
              <a:rPr sz="1100">
                <a:solidFill>
                  <a:srgbClr val="1A1A2E"/>
                </a:solidFill>
              </a:rPr>
              <a:t>▸  Active SIP accounts grew from 4.91 Cr to 9.35 Cr</a:t>
            </a:r>
          </a:p>
          <a:p>
            <a:pPr>
              <a:spcBef>
                <a:spcPts val="300"/>
              </a:spcBef>
            </a:pPr>
            <a:r>
              <a:rPr sz="1100">
                <a:solidFill>
                  <a:srgbClr val="1A1A2E"/>
                </a:solidFill>
              </a:rPr>
              <a:t>▸  YoY growth peaked at +45.7% in 2024</a:t>
            </a:r>
          </a:p>
        </p:txBody>
      </p:sp>
      <p:sp>
        <p:nvSpPr>
          <p:cNvPr id="20" name="Rectangle 19"/>
          <p:cNvSpPr/>
          <p:nvPr/>
        </p:nvSpPr>
        <p:spPr>
          <a:xfrm>
            <a:off x="6199632" y="1965960"/>
            <a:ext cx="58064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99632" y="1965960"/>
            <a:ext cx="5806440" cy="32004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36792" y="2011680"/>
            <a:ext cx="5486400" cy="256032"/>
          </a:xfrm>
          <a:prstGeom prst="rect">
            <a:avLst/>
          </a:prstGeom>
          <a:noFill/>
        </p:spPr>
        <p:txBody>
          <a:bodyPr wrap="square">
            <a:spAutoFit/>
          </a:bodyPr>
          <a:lstStyle/>
          <a:p>
            <a:pPr algn="l"/>
            <a:r>
              <a:rPr sz="1100" b="1" i="0">
                <a:solidFill>
                  <a:srgbClr val="FFFFFF"/>
                </a:solidFill>
              </a:rPr>
              <a:t>📊  AUM Growth by AMC (Chart 02)</a:t>
            </a:r>
          </a:p>
        </p:txBody>
      </p:sp>
      <p:sp>
        <p:nvSpPr>
          <p:cNvPr id="23" name="TextBox 22"/>
          <p:cNvSpPr txBox="1"/>
          <p:nvPr/>
        </p:nvSpPr>
        <p:spPr>
          <a:xfrm>
            <a:off x="6336792" y="2359152"/>
            <a:ext cx="5577840" cy="1828800"/>
          </a:xfrm>
          <a:prstGeom prst="rect">
            <a:avLst/>
          </a:prstGeom>
          <a:noFill/>
        </p:spPr>
        <p:txBody>
          <a:bodyPr wrap="square">
            <a:spAutoFit/>
          </a:bodyPr>
          <a:lstStyle/>
          <a:p>
            <a:pPr>
              <a:spcBef>
                <a:spcPts val="300"/>
              </a:spcBef>
            </a:pPr>
            <a:r>
              <a:rPr sz="1100">
                <a:solidFill>
                  <a:srgbClr val="1A1A2E"/>
                </a:solidFill>
              </a:rPr>
              <a:t>▸  SBI: ₹6.05L Cr (2022) → ₹12.5L Cr (2025) — 2× growth</a:t>
            </a:r>
          </a:p>
          <a:p>
            <a:pPr>
              <a:spcBef>
                <a:spcPts val="300"/>
              </a:spcBef>
            </a:pPr>
            <a:r>
              <a:rPr sz="1100">
                <a:solidFill>
                  <a:srgbClr val="1A1A2E"/>
                </a:solidFill>
              </a:rPr>
              <a:t>▸  ICICI, HDFC follow as 2nd and 3rd largest AMCs</a:t>
            </a:r>
          </a:p>
          <a:p>
            <a:pPr>
              <a:spcBef>
                <a:spcPts val="300"/>
              </a:spcBef>
            </a:pPr>
            <a:r>
              <a:rPr sz="1100">
                <a:solidFill>
                  <a:srgbClr val="1A1A2E"/>
                </a:solidFill>
              </a:rPr>
              <a:t>▸  Mirae Asset showed fastest % growth (2.4×)</a:t>
            </a:r>
          </a:p>
          <a:p>
            <a:pPr>
              <a:spcBef>
                <a:spcPts val="300"/>
              </a:spcBef>
            </a:pPr>
            <a:r>
              <a:rPr sz="1100">
                <a:solidFill>
                  <a:srgbClr val="1A1A2E"/>
                </a:solidFill>
              </a:rPr>
              <a:t>▸  Top 3 AMCs control ~42% of tracked AUM</a:t>
            </a:r>
          </a:p>
        </p:txBody>
      </p:sp>
      <p:sp>
        <p:nvSpPr>
          <p:cNvPr id="24" name="Rectangle 23"/>
          <p:cNvSpPr/>
          <p:nvPr/>
        </p:nvSpPr>
        <p:spPr>
          <a:xfrm>
            <a:off x="182880" y="4370832"/>
            <a:ext cx="11823192" cy="8686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82880" y="4370832"/>
            <a:ext cx="54864" cy="86868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0040" y="4443984"/>
            <a:ext cx="11521440" cy="685800"/>
          </a:xfrm>
          <a:prstGeom prst="rect">
            <a:avLst/>
          </a:prstGeom>
          <a:noFill/>
        </p:spPr>
        <p:txBody>
          <a:bodyPr wrap="square">
            <a:spAutoFit/>
          </a:bodyPr>
          <a:lstStyle/>
          <a:p>
            <a:pPr algn="l"/>
            <a:r>
              <a:rPr sz="1100" b="0" i="0">
                <a:solidFill>
                  <a:srgbClr val="1A1A2E"/>
                </a:solidFill>
              </a:rPr>
              <a:t>📁  Folio Count Growth (Chart 07)  —  Total MF folios doubled from 13.26 Cr (Jan 2022) to 26.12 Cr (Dec 2025). Equity folios grew fastest, confirming shift from savings to equity investing.</a:t>
            </a:r>
          </a:p>
        </p:txBody>
      </p:sp>
      <p:sp>
        <p:nvSpPr>
          <p:cNvPr id="27" name="Rectangle 26"/>
          <p:cNvSpPr/>
          <p:nvPr/>
        </p:nvSpPr>
        <p:spPr>
          <a:xfrm>
            <a:off x="182880" y="5349240"/>
            <a:ext cx="11823192" cy="86868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2880" y="5349240"/>
            <a:ext cx="54864" cy="86868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5422392"/>
            <a:ext cx="11521440" cy="685800"/>
          </a:xfrm>
          <a:prstGeom prst="rect">
            <a:avLst/>
          </a:prstGeom>
          <a:noFill/>
        </p:spPr>
        <p:txBody>
          <a:bodyPr wrap="square">
            <a:spAutoFit/>
          </a:bodyPr>
          <a:lstStyle/>
          <a:p>
            <a:pPr algn="l"/>
            <a:r>
              <a:rPr sz="1100" b="0" i="0">
                <a:solidFill>
                  <a:srgbClr val="1A1A2E"/>
                </a:solidFill>
              </a:rPr>
              <a:t>🔥  Category Heatmap (Chart 04)  —  Liquid funds dominate net inflows in absolute value (₹451,275 Cr total). Small Cap and Mid Cap show the steepest growth trajectory in FY 2024–25.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411480"/>
          </a:xfrm>
          <a:prstGeom prst="rect">
            <a:avLst/>
          </a:prstGeom>
          <a:noFill/>
        </p:spPr>
        <p:txBody>
          <a:bodyPr wrap="square">
            <a:spAutoFit/>
          </a:bodyPr>
          <a:lstStyle/>
          <a:p>
            <a:pPr algn="l"/>
            <a:r>
              <a:rPr sz="2000" b="1" i="0">
                <a:solidFill>
                  <a:srgbClr val="FFFFFF"/>
                </a:solidFill>
              </a:rPr>
              <a:t>EDA Highlights — Fund &amp; Investor Analysis</a:t>
            </a:r>
          </a:p>
        </p:txBody>
      </p:sp>
      <p:sp>
        <p:nvSpPr>
          <p:cNvPr id="4" name="Rectangle 3"/>
          <p:cNvSpPr/>
          <p:nvPr/>
        </p:nvSpPr>
        <p:spPr>
          <a:xfrm>
            <a:off x="182880" y="685800"/>
            <a:ext cx="5806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685800"/>
            <a:ext cx="5806440" cy="347472"/>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40664"/>
            <a:ext cx="5577840" cy="274320"/>
          </a:xfrm>
          <a:prstGeom prst="rect">
            <a:avLst/>
          </a:prstGeom>
          <a:noFill/>
        </p:spPr>
        <p:txBody>
          <a:bodyPr wrap="square">
            <a:spAutoFit/>
          </a:bodyPr>
          <a:lstStyle/>
          <a:p>
            <a:pPr algn="l"/>
            <a:r>
              <a:rPr sz="1100" b="1" i="0">
                <a:solidFill>
                  <a:srgbClr val="FFFFFF"/>
                </a:solidFill>
              </a:rPr>
              <a:t>🔗  Return Correlation Matrix (Chart 08)</a:t>
            </a:r>
          </a:p>
        </p:txBody>
      </p:sp>
      <p:sp>
        <p:nvSpPr>
          <p:cNvPr id="7" name="TextBox 6"/>
          <p:cNvSpPr txBox="1"/>
          <p:nvPr/>
        </p:nvSpPr>
        <p:spPr>
          <a:xfrm>
            <a:off x="320040" y="1106424"/>
            <a:ext cx="5532120" cy="2240280"/>
          </a:xfrm>
          <a:prstGeom prst="rect">
            <a:avLst/>
          </a:prstGeom>
          <a:noFill/>
        </p:spPr>
        <p:txBody>
          <a:bodyPr wrap="square">
            <a:spAutoFit/>
          </a:bodyPr>
          <a:lstStyle/>
          <a:p>
            <a:pPr>
              <a:spcBef>
                <a:spcPts val="300"/>
              </a:spcBef>
            </a:pPr>
            <a:r>
              <a:rPr sz="1100">
                <a:solidFill>
                  <a:srgbClr val="1A1A2E"/>
                </a:solidFill>
              </a:rPr>
              <a:t>▸  Large Cap funds show &gt;0.85 pairwise correlation</a:t>
            </a:r>
          </a:p>
          <a:p>
            <a:pPr>
              <a:spcBef>
                <a:spcPts val="300"/>
              </a:spcBef>
            </a:pPr>
            <a:r>
              <a:rPr sz="1100">
                <a:solidFill>
                  <a:srgbClr val="1A1A2E"/>
                </a:solidFill>
              </a:rPr>
              <a:t>▸  High correlation = limited diversification benefit</a:t>
            </a:r>
          </a:p>
          <a:p>
            <a:pPr>
              <a:spcBef>
                <a:spcPts val="300"/>
              </a:spcBef>
            </a:pPr>
            <a:r>
              <a:rPr sz="1100">
                <a:solidFill>
                  <a:srgbClr val="1A1A2E"/>
                </a:solidFill>
              </a:rPr>
              <a:t>▸  Small Cap funds are more independent (&lt;0.6)</a:t>
            </a:r>
          </a:p>
          <a:p>
            <a:pPr>
              <a:spcBef>
                <a:spcPts val="300"/>
              </a:spcBef>
            </a:pPr>
            <a:r>
              <a:rPr sz="1100">
                <a:solidFill>
                  <a:srgbClr val="1A1A2E"/>
                </a:solidFill>
              </a:rPr>
              <a:t>▸  Cross-category diversification is meaningful</a:t>
            </a:r>
          </a:p>
        </p:txBody>
      </p:sp>
      <p:sp>
        <p:nvSpPr>
          <p:cNvPr id="8" name="Rectangle 7"/>
          <p:cNvSpPr/>
          <p:nvPr/>
        </p:nvSpPr>
        <p:spPr>
          <a:xfrm>
            <a:off x="6199632" y="685800"/>
            <a:ext cx="5806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685800"/>
            <a:ext cx="5806440" cy="347472"/>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1072" y="740664"/>
            <a:ext cx="5577840" cy="274320"/>
          </a:xfrm>
          <a:prstGeom prst="rect">
            <a:avLst/>
          </a:prstGeom>
          <a:noFill/>
        </p:spPr>
        <p:txBody>
          <a:bodyPr wrap="square">
            <a:spAutoFit/>
          </a:bodyPr>
          <a:lstStyle/>
          <a:p>
            <a:pPr algn="l"/>
            <a:r>
              <a:rPr sz="1100" b="1" i="0">
                <a:solidFill>
                  <a:srgbClr val="FFFFFF"/>
                </a:solidFill>
              </a:rPr>
              <a:t>🥧  Sector Allocation — Equity Funds (Chart 09)</a:t>
            </a:r>
          </a:p>
        </p:txBody>
      </p:sp>
      <p:sp>
        <p:nvSpPr>
          <p:cNvPr id="11" name="TextBox 10"/>
          <p:cNvSpPr txBox="1"/>
          <p:nvPr/>
        </p:nvSpPr>
        <p:spPr>
          <a:xfrm>
            <a:off x="6336792" y="1106424"/>
            <a:ext cx="5532120" cy="2240280"/>
          </a:xfrm>
          <a:prstGeom prst="rect">
            <a:avLst/>
          </a:prstGeom>
          <a:noFill/>
        </p:spPr>
        <p:txBody>
          <a:bodyPr wrap="square">
            <a:spAutoFit/>
          </a:bodyPr>
          <a:lstStyle/>
          <a:p>
            <a:pPr>
              <a:spcBef>
                <a:spcPts val="300"/>
              </a:spcBef>
            </a:pPr>
            <a:r>
              <a:rPr sz="1100">
                <a:solidFill>
                  <a:srgbClr val="1A1A2E"/>
                </a:solidFill>
              </a:rPr>
              <a:t>▸  Banking &amp; Financial Services is dominant sector</a:t>
            </a:r>
          </a:p>
          <a:p>
            <a:pPr>
              <a:spcBef>
                <a:spcPts val="300"/>
              </a:spcBef>
            </a:pPr>
            <a:r>
              <a:rPr sz="1100">
                <a:solidFill>
                  <a:srgbClr val="1A1A2E"/>
                </a:solidFill>
              </a:rPr>
              <a:t>▸  Reflects Nifty 50 index composition bias</a:t>
            </a:r>
          </a:p>
          <a:p>
            <a:pPr>
              <a:spcBef>
                <a:spcPts val="300"/>
              </a:spcBef>
            </a:pPr>
            <a:r>
              <a:rPr sz="1100">
                <a:solidFill>
                  <a:srgbClr val="1A1A2E"/>
                </a:solidFill>
              </a:rPr>
              <a:t>▸  IT, Pharma, FMCG follow as top 3 sectors</a:t>
            </a:r>
          </a:p>
          <a:p>
            <a:pPr>
              <a:spcBef>
                <a:spcPts val="300"/>
              </a:spcBef>
            </a:pPr>
            <a:r>
              <a:rPr sz="1100">
                <a:solidFill>
                  <a:srgbClr val="1A1A2E"/>
                </a:solidFill>
              </a:rPr>
              <a:t>▸  Axis Bluechip most concentrated (HHI: 2064)</a:t>
            </a:r>
          </a:p>
        </p:txBody>
      </p:sp>
      <p:sp>
        <p:nvSpPr>
          <p:cNvPr id="12" name="Rectangle 11"/>
          <p:cNvSpPr/>
          <p:nvPr/>
        </p:nvSpPr>
        <p:spPr>
          <a:xfrm>
            <a:off x="182880" y="3657600"/>
            <a:ext cx="5806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3657600"/>
            <a:ext cx="5806440" cy="34747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3712463"/>
            <a:ext cx="5577840" cy="274320"/>
          </a:xfrm>
          <a:prstGeom prst="rect">
            <a:avLst/>
          </a:prstGeom>
          <a:noFill/>
        </p:spPr>
        <p:txBody>
          <a:bodyPr wrap="square">
            <a:spAutoFit/>
          </a:bodyPr>
          <a:lstStyle/>
          <a:p>
            <a:pPr algn="l"/>
            <a:r>
              <a:rPr sz="1100" b="1" i="0">
                <a:solidFill>
                  <a:srgbClr val="FFFFFF"/>
                </a:solidFill>
              </a:rPr>
              <a:t>👥  Investor Demographics (Charts 05–06)</a:t>
            </a:r>
          </a:p>
        </p:txBody>
      </p:sp>
      <p:sp>
        <p:nvSpPr>
          <p:cNvPr id="15" name="TextBox 14"/>
          <p:cNvSpPr txBox="1"/>
          <p:nvPr/>
        </p:nvSpPr>
        <p:spPr>
          <a:xfrm>
            <a:off x="320040" y="4078224"/>
            <a:ext cx="5532120" cy="2240280"/>
          </a:xfrm>
          <a:prstGeom prst="rect">
            <a:avLst/>
          </a:prstGeom>
          <a:noFill/>
        </p:spPr>
        <p:txBody>
          <a:bodyPr wrap="square">
            <a:spAutoFit/>
          </a:bodyPr>
          <a:lstStyle/>
          <a:p>
            <a:pPr>
              <a:spcBef>
                <a:spcPts val="300"/>
              </a:spcBef>
            </a:pPr>
            <a:r>
              <a:rPr sz="1100">
                <a:solidFill>
                  <a:srgbClr val="1A1A2E"/>
                </a:solidFill>
              </a:rPr>
              <a:t>▸  56+ investors have highest avg SIP (₹11,575/month)</a:t>
            </a:r>
          </a:p>
          <a:p>
            <a:pPr>
              <a:spcBef>
                <a:spcPts val="300"/>
              </a:spcBef>
            </a:pPr>
            <a:r>
              <a:rPr sz="1100">
                <a:solidFill>
                  <a:srgbClr val="1A1A2E"/>
                </a:solidFill>
              </a:rPr>
              <a:t>▸  Male investors: 66.5% | Female: 33.5%</a:t>
            </a:r>
          </a:p>
          <a:p>
            <a:pPr>
              <a:spcBef>
                <a:spcPts val="300"/>
              </a:spcBef>
            </a:pPr>
            <a:r>
              <a:rPr sz="1100">
                <a:solidFill>
                  <a:srgbClr val="1A1A2E"/>
                </a:solidFill>
              </a:rPr>
              <a:t>▸  Punjab, Tamil Nadu, Madhya Pradesh top 3 states</a:t>
            </a:r>
          </a:p>
          <a:p>
            <a:pPr>
              <a:spcBef>
                <a:spcPts val="300"/>
              </a:spcBef>
            </a:pPr>
            <a:r>
              <a:rPr sz="1100">
                <a:solidFill>
                  <a:srgbClr val="1A1A2E"/>
                </a:solidFill>
              </a:rPr>
              <a:t>▸  B30 cities: 34.1% share &amp; growing faster than T30</a:t>
            </a:r>
          </a:p>
        </p:txBody>
      </p:sp>
      <p:sp>
        <p:nvSpPr>
          <p:cNvPr id="16" name="Rectangle 15"/>
          <p:cNvSpPr/>
          <p:nvPr/>
        </p:nvSpPr>
        <p:spPr>
          <a:xfrm>
            <a:off x="6199632" y="3657600"/>
            <a:ext cx="5806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3657600"/>
            <a:ext cx="5806440" cy="347472"/>
          </a:xfrm>
          <a:prstGeom prst="rect">
            <a:avLst/>
          </a:prstGeom>
          <a:solidFill>
            <a:srgbClr val="0083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3712463"/>
            <a:ext cx="5577840" cy="274320"/>
          </a:xfrm>
          <a:prstGeom prst="rect">
            <a:avLst/>
          </a:prstGeom>
          <a:noFill/>
        </p:spPr>
        <p:txBody>
          <a:bodyPr wrap="square">
            <a:spAutoFit/>
          </a:bodyPr>
          <a:lstStyle/>
          <a:p>
            <a:pPr algn="l"/>
            <a:r>
              <a:rPr sz="1100" b="1" i="0">
                <a:solidFill>
                  <a:srgbClr val="FFFFFF"/>
                </a:solidFill>
              </a:rPr>
              <a:t>📈  NAV Trends 2022–2026 (Chart 01a/01b)</a:t>
            </a:r>
          </a:p>
        </p:txBody>
      </p:sp>
      <p:sp>
        <p:nvSpPr>
          <p:cNvPr id="19" name="TextBox 18"/>
          <p:cNvSpPr txBox="1"/>
          <p:nvPr/>
        </p:nvSpPr>
        <p:spPr>
          <a:xfrm>
            <a:off x="6336792" y="4078224"/>
            <a:ext cx="5532120" cy="2240280"/>
          </a:xfrm>
          <a:prstGeom prst="rect">
            <a:avLst/>
          </a:prstGeom>
          <a:noFill/>
        </p:spPr>
        <p:txBody>
          <a:bodyPr wrap="square">
            <a:spAutoFit/>
          </a:bodyPr>
          <a:lstStyle/>
          <a:p>
            <a:pPr>
              <a:spcBef>
                <a:spcPts val="300"/>
              </a:spcBef>
            </a:pPr>
            <a:r>
              <a:rPr sz="1100">
                <a:solidFill>
                  <a:srgbClr val="1A1A2E"/>
                </a:solidFill>
              </a:rPr>
              <a:t>▸  Small Cap funds outperformed all categories</a:t>
            </a:r>
          </a:p>
          <a:p>
            <a:pPr>
              <a:spcBef>
                <a:spcPts val="300"/>
              </a:spcBef>
            </a:pPr>
            <a:r>
              <a:rPr sz="1100">
                <a:solidFill>
                  <a:srgbClr val="1A1A2E"/>
                </a:solidFill>
              </a:rPr>
              <a:t>▸  2023 bull run visible across all equity funds</a:t>
            </a:r>
          </a:p>
          <a:p>
            <a:pPr>
              <a:spcBef>
                <a:spcPts val="300"/>
              </a:spcBef>
            </a:pPr>
            <a:r>
              <a:rPr sz="1100">
                <a:solidFill>
                  <a:srgbClr val="1A1A2E"/>
                </a:solidFill>
              </a:rPr>
              <a:t>▸  2024 mid-year correction recovered by H2 2024</a:t>
            </a:r>
          </a:p>
          <a:p>
            <a:pPr>
              <a:spcBef>
                <a:spcPts val="300"/>
              </a:spcBef>
            </a:pPr>
            <a:r>
              <a:rPr sz="1100">
                <a:solidFill>
                  <a:srgbClr val="1A1A2E"/>
                </a:solidFill>
              </a:rPr>
              <a:t>▸  Indexed NAV shows 2–3× returns for top funds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411480"/>
          </a:xfrm>
          <a:prstGeom prst="rect">
            <a:avLst/>
          </a:prstGeom>
          <a:noFill/>
        </p:spPr>
        <p:txBody>
          <a:bodyPr wrap="square">
            <a:spAutoFit/>
          </a:bodyPr>
          <a:lstStyle/>
          <a:p>
            <a:pPr algn="l"/>
            <a:r>
              <a:rPr sz="2000" b="1" i="0">
                <a:solidFill>
                  <a:srgbClr val="FFFFFF"/>
                </a:solidFill>
              </a:rPr>
              <a:t>Fund Performance Analytics — Key Results</a:t>
            </a:r>
          </a:p>
        </p:txBody>
      </p:sp>
      <p:sp>
        <p:nvSpPr>
          <p:cNvPr id="4" name="Rectangle 3"/>
          <p:cNvSpPr/>
          <p:nvPr/>
        </p:nvSpPr>
        <p:spPr>
          <a:xfrm>
            <a:off x="182880" y="658368"/>
            <a:ext cx="28346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658368"/>
            <a:ext cx="2834640" cy="34747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04088"/>
            <a:ext cx="2651760" cy="274320"/>
          </a:xfrm>
          <a:prstGeom prst="rect">
            <a:avLst/>
          </a:prstGeom>
          <a:noFill/>
        </p:spPr>
        <p:txBody>
          <a:bodyPr wrap="square">
            <a:spAutoFit/>
          </a:bodyPr>
          <a:lstStyle/>
          <a:p>
            <a:pPr algn="l"/>
            <a:r>
              <a:rPr sz="1300" b="1" i="0">
                <a:solidFill>
                  <a:srgbClr val="FFFFFF"/>
                </a:solidFill>
              </a:rPr>
              <a:t>CAGR</a:t>
            </a:r>
          </a:p>
        </p:txBody>
      </p:sp>
      <p:sp>
        <p:nvSpPr>
          <p:cNvPr id="7" name="TextBox 6"/>
          <p:cNvSpPr txBox="1"/>
          <p:nvPr/>
        </p:nvSpPr>
        <p:spPr>
          <a:xfrm>
            <a:off x="274320" y="1078992"/>
            <a:ext cx="2651760" cy="777240"/>
          </a:xfrm>
          <a:prstGeom prst="rect">
            <a:avLst/>
          </a:prstGeom>
          <a:noFill/>
        </p:spPr>
        <p:txBody>
          <a:bodyPr wrap="square">
            <a:spAutoFit/>
          </a:bodyPr>
          <a:lstStyle/>
          <a:p>
            <a:pPr algn="l"/>
            <a:r>
              <a:rPr sz="1150" b="1" i="0">
                <a:solidFill>
                  <a:srgbClr val="1A1A2E"/>
                </a:solidFill>
              </a:rPr>
              <a:t>Best 3yr: 35.1%
Small Cap dominates</a:t>
            </a:r>
          </a:p>
        </p:txBody>
      </p:sp>
      <p:sp>
        <p:nvSpPr>
          <p:cNvPr id="8" name="Rectangle 7"/>
          <p:cNvSpPr/>
          <p:nvPr/>
        </p:nvSpPr>
        <p:spPr>
          <a:xfrm>
            <a:off x="274320" y="1965960"/>
            <a:ext cx="2651760" cy="77724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20040" y="2011680"/>
            <a:ext cx="2560320" cy="685800"/>
          </a:xfrm>
          <a:prstGeom prst="rect">
            <a:avLst/>
          </a:prstGeom>
          <a:noFill/>
        </p:spPr>
        <p:txBody>
          <a:bodyPr wrap="square">
            <a:spAutoFit/>
          </a:bodyPr>
          <a:lstStyle/>
          <a:p>
            <a:pPr algn="l"/>
            <a:r>
              <a:rPr sz="850" b="0" i="1">
                <a:solidFill>
                  <a:srgbClr val="546E7A"/>
                </a:solidFill>
              </a:rPr>
              <a:t>Formula: (NAV_end/NAV_start)^(1/n)-1</a:t>
            </a:r>
          </a:p>
        </p:txBody>
      </p:sp>
      <p:sp>
        <p:nvSpPr>
          <p:cNvPr id="10" name="Rectangle 9"/>
          <p:cNvSpPr/>
          <p:nvPr/>
        </p:nvSpPr>
        <p:spPr>
          <a:xfrm>
            <a:off x="3172968" y="658368"/>
            <a:ext cx="28346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72968" y="658368"/>
            <a:ext cx="2834640" cy="347472"/>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64408" y="704088"/>
            <a:ext cx="2651760" cy="274320"/>
          </a:xfrm>
          <a:prstGeom prst="rect">
            <a:avLst/>
          </a:prstGeom>
          <a:noFill/>
        </p:spPr>
        <p:txBody>
          <a:bodyPr wrap="square">
            <a:spAutoFit/>
          </a:bodyPr>
          <a:lstStyle/>
          <a:p>
            <a:pPr algn="l"/>
            <a:r>
              <a:rPr sz="1300" b="1" i="0">
                <a:solidFill>
                  <a:srgbClr val="FFFFFF"/>
                </a:solidFill>
              </a:rPr>
              <a:t>Sharpe</a:t>
            </a:r>
          </a:p>
        </p:txBody>
      </p:sp>
      <p:sp>
        <p:nvSpPr>
          <p:cNvPr id="13" name="TextBox 12"/>
          <p:cNvSpPr txBox="1"/>
          <p:nvPr/>
        </p:nvSpPr>
        <p:spPr>
          <a:xfrm>
            <a:off x="3264408" y="1078992"/>
            <a:ext cx="2651760" cy="777240"/>
          </a:xfrm>
          <a:prstGeom prst="rect">
            <a:avLst/>
          </a:prstGeom>
          <a:noFill/>
        </p:spPr>
        <p:txBody>
          <a:bodyPr wrap="square">
            <a:spAutoFit/>
          </a:bodyPr>
          <a:lstStyle/>
          <a:p>
            <a:pPr algn="l"/>
            <a:r>
              <a:rPr sz="1150" b="1" i="0">
                <a:solidFill>
                  <a:srgbClr val="1A1A2E"/>
                </a:solidFill>
              </a:rPr>
              <a:t>Best: 1.45
(ICICI Pru Liquid)</a:t>
            </a:r>
          </a:p>
        </p:txBody>
      </p:sp>
      <p:sp>
        <p:nvSpPr>
          <p:cNvPr id="14" name="Rectangle 13"/>
          <p:cNvSpPr/>
          <p:nvPr/>
        </p:nvSpPr>
        <p:spPr>
          <a:xfrm>
            <a:off x="3264408" y="1965960"/>
            <a:ext cx="2651760" cy="77724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10128" y="2011680"/>
            <a:ext cx="2560320" cy="685800"/>
          </a:xfrm>
          <a:prstGeom prst="rect">
            <a:avLst/>
          </a:prstGeom>
          <a:noFill/>
        </p:spPr>
        <p:txBody>
          <a:bodyPr wrap="square">
            <a:spAutoFit/>
          </a:bodyPr>
          <a:lstStyle/>
          <a:p>
            <a:pPr algn="l"/>
            <a:r>
              <a:rPr sz="850" b="0" i="1">
                <a:solidFill>
                  <a:srgbClr val="546E7A"/>
                </a:solidFill>
              </a:rPr>
              <a:t>Formula: (Rp-Rf)/σ × √252  |  Rf=6.5%</a:t>
            </a:r>
          </a:p>
        </p:txBody>
      </p:sp>
      <p:sp>
        <p:nvSpPr>
          <p:cNvPr id="16" name="Rectangle 15"/>
          <p:cNvSpPr/>
          <p:nvPr/>
        </p:nvSpPr>
        <p:spPr>
          <a:xfrm>
            <a:off x="6163056" y="658368"/>
            <a:ext cx="28346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63056" y="658368"/>
            <a:ext cx="2834640" cy="34747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54496" y="704088"/>
            <a:ext cx="2651760" cy="274320"/>
          </a:xfrm>
          <a:prstGeom prst="rect">
            <a:avLst/>
          </a:prstGeom>
          <a:noFill/>
        </p:spPr>
        <p:txBody>
          <a:bodyPr wrap="square">
            <a:spAutoFit/>
          </a:bodyPr>
          <a:lstStyle/>
          <a:p>
            <a:pPr algn="l"/>
            <a:r>
              <a:rPr sz="1300" b="1" i="0">
                <a:solidFill>
                  <a:srgbClr val="FFFFFF"/>
                </a:solidFill>
              </a:rPr>
              <a:t>Alpha</a:t>
            </a:r>
          </a:p>
        </p:txBody>
      </p:sp>
      <p:sp>
        <p:nvSpPr>
          <p:cNvPr id="19" name="TextBox 18"/>
          <p:cNvSpPr txBox="1"/>
          <p:nvPr/>
        </p:nvSpPr>
        <p:spPr>
          <a:xfrm>
            <a:off x="6254496" y="1078992"/>
            <a:ext cx="2651760" cy="777240"/>
          </a:xfrm>
          <a:prstGeom prst="rect">
            <a:avLst/>
          </a:prstGeom>
          <a:noFill/>
        </p:spPr>
        <p:txBody>
          <a:bodyPr wrap="square">
            <a:spAutoFit/>
          </a:bodyPr>
          <a:lstStyle/>
          <a:p>
            <a:pPr algn="l"/>
            <a:r>
              <a:rPr sz="1150" b="1" i="0">
                <a:solidFill>
                  <a:srgbClr val="1A1A2E"/>
                </a:solidFill>
              </a:rPr>
              <a:t>Top: SBI Small Cap
+30.34% ann.</a:t>
            </a:r>
          </a:p>
        </p:txBody>
      </p:sp>
      <p:sp>
        <p:nvSpPr>
          <p:cNvPr id="20" name="Rectangle 19"/>
          <p:cNvSpPr/>
          <p:nvPr/>
        </p:nvSpPr>
        <p:spPr>
          <a:xfrm>
            <a:off x="6254496" y="1965960"/>
            <a:ext cx="2651760" cy="77724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00216" y="2011680"/>
            <a:ext cx="2560320" cy="685800"/>
          </a:xfrm>
          <a:prstGeom prst="rect">
            <a:avLst/>
          </a:prstGeom>
          <a:noFill/>
        </p:spPr>
        <p:txBody>
          <a:bodyPr wrap="square">
            <a:spAutoFit/>
          </a:bodyPr>
          <a:lstStyle/>
          <a:p>
            <a:pPr algn="l"/>
            <a:r>
              <a:rPr sz="850" b="0" i="1">
                <a:solidFill>
                  <a:srgbClr val="546E7A"/>
                </a:solidFill>
              </a:rPr>
              <a:t>Formula: OLS intercept × 252 vs Nifty 100</a:t>
            </a:r>
          </a:p>
        </p:txBody>
      </p:sp>
      <p:sp>
        <p:nvSpPr>
          <p:cNvPr id="22" name="Rectangle 21"/>
          <p:cNvSpPr/>
          <p:nvPr/>
        </p:nvSpPr>
        <p:spPr>
          <a:xfrm>
            <a:off x="9153144" y="658368"/>
            <a:ext cx="2834640" cy="2286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53144" y="658368"/>
            <a:ext cx="2834640" cy="347472"/>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44584" y="704088"/>
            <a:ext cx="2651760" cy="274320"/>
          </a:xfrm>
          <a:prstGeom prst="rect">
            <a:avLst/>
          </a:prstGeom>
          <a:noFill/>
        </p:spPr>
        <p:txBody>
          <a:bodyPr wrap="square">
            <a:spAutoFit/>
          </a:bodyPr>
          <a:lstStyle/>
          <a:p>
            <a:pPr algn="l"/>
            <a:r>
              <a:rPr sz="1300" b="1" i="0">
                <a:solidFill>
                  <a:srgbClr val="FFFFFF"/>
                </a:solidFill>
              </a:rPr>
              <a:t>Max DD</a:t>
            </a:r>
          </a:p>
        </p:txBody>
      </p:sp>
      <p:sp>
        <p:nvSpPr>
          <p:cNvPr id="25" name="TextBox 24"/>
          <p:cNvSpPr txBox="1"/>
          <p:nvPr/>
        </p:nvSpPr>
        <p:spPr>
          <a:xfrm>
            <a:off x="9244584" y="1078992"/>
            <a:ext cx="2651760" cy="777240"/>
          </a:xfrm>
          <a:prstGeom prst="rect">
            <a:avLst/>
          </a:prstGeom>
          <a:noFill/>
        </p:spPr>
        <p:txBody>
          <a:bodyPr wrap="square">
            <a:spAutoFit/>
          </a:bodyPr>
          <a:lstStyle/>
          <a:p>
            <a:pPr algn="l"/>
            <a:r>
              <a:rPr sz="1150" b="1" i="0">
                <a:solidFill>
                  <a:srgbClr val="1A1A2E"/>
                </a:solidFill>
              </a:rPr>
              <a:t>Worst: SBI Small Cap
-52.57% over 1015 days</a:t>
            </a:r>
          </a:p>
        </p:txBody>
      </p:sp>
      <p:sp>
        <p:nvSpPr>
          <p:cNvPr id="26" name="Rectangle 25"/>
          <p:cNvSpPr/>
          <p:nvPr/>
        </p:nvSpPr>
        <p:spPr>
          <a:xfrm>
            <a:off x="9244584" y="1965960"/>
            <a:ext cx="2651760" cy="777240"/>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90304" y="2011680"/>
            <a:ext cx="2560320" cy="685800"/>
          </a:xfrm>
          <a:prstGeom prst="rect">
            <a:avLst/>
          </a:prstGeom>
          <a:noFill/>
        </p:spPr>
        <p:txBody>
          <a:bodyPr wrap="square">
            <a:spAutoFit/>
          </a:bodyPr>
          <a:lstStyle/>
          <a:p>
            <a:pPr algn="l"/>
            <a:r>
              <a:rPr sz="850" b="0" i="1">
                <a:solidFill>
                  <a:srgbClr val="546E7A"/>
                </a:solidFill>
              </a:rPr>
              <a:t>Formula: min(NAV/cummax(NAV)-1)</a:t>
            </a:r>
          </a:p>
        </p:txBody>
      </p:sp>
      <p:sp>
        <p:nvSpPr>
          <p:cNvPr id="28" name="Rectangle 27"/>
          <p:cNvSpPr/>
          <p:nvPr/>
        </p:nvSpPr>
        <p:spPr>
          <a:xfrm>
            <a:off x="182880" y="3063240"/>
            <a:ext cx="11823192" cy="3200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0040" y="3099816"/>
            <a:ext cx="11548872" cy="256032"/>
          </a:xfrm>
          <a:prstGeom prst="rect">
            <a:avLst/>
          </a:prstGeom>
          <a:noFill/>
        </p:spPr>
        <p:txBody>
          <a:bodyPr wrap="square">
            <a:spAutoFit/>
          </a:bodyPr>
          <a:lstStyle/>
          <a:p>
            <a:pPr algn="l"/>
            <a:r>
              <a:rPr sz="950" b="1" i="0">
                <a:solidFill>
                  <a:srgbClr val="FFFFFF"/>
                </a:solidFill>
              </a:rPr>
              <a:t>🏆  Fund Composite Scorecard (0–100)  —  Weighted Rank: 30% CAGR + 25% Sharpe + 20% Alpha + 15% Exp Ratio + 10% Max DD</a:t>
            </a:r>
          </a:p>
        </p:txBody>
      </p:sp>
      <p:sp>
        <p:nvSpPr>
          <p:cNvPr id="30" name="Rectangle 29"/>
          <p:cNvSpPr/>
          <p:nvPr/>
        </p:nvSpPr>
        <p:spPr>
          <a:xfrm>
            <a:off x="182880" y="3429000"/>
            <a:ext cx="438912"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10312" y="3465576"/>
            <a:ext cx="402336" cy="201168"/>
          </a:xfrm>
          <a:prstGeom prst="rect">
            <a:avLst/>
          </a:prstGeom>
          <a:noFill/>
        </p:spPr>
        <p:txBody>
          <a:bodyPr wrap="square">
            <a:spAutoFit/>
          </a:bodyPr>
          <a:lstStyle/>
          <a:p>
            <a:pPr algn="ctr"/>
            <a:r>
              <a:rPr sz="850" b="1" i="0">
                <a:solidFill>
                  <a:srgbClr val="FFFFFF"/>
                </a:solidFill>
              </a:rPr>
              <a:t>Rank</a:t>
            </a:r>
          </a:p>
        </p:txBody>
      </p:sp>
      <p:sp>
        <p:nvSpPr>
          <p:cNvPr id="32" name="Rectangle 31"/>
          <p:cNvSpPr/>
          <p:nvPr/>
        </p:nvSpPr>
        <p:spPr>
          <a:xfrm>
            <a:off x="685800" y="3429000"/>
            <a:ext cx="6153912"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3465576"/>
            <a:ext cx="6117336" cy="201168"/>
          </a:xfrm>
          <a:prstGeom prst="rect">
            <a:avLst/>
          </a:prstGeom>
          <a:noFill/>
        </p:spPr>
        <p:txBody>
          <a:bodyPr wrap="square">
            <a:spAutoFit/>
          </a:bodyPr>
          <a:lstStyle/>
          <a:p>
            <a:pPr algn="ctr"/>
            <a:r>
              <a:rPr sz="850" b="1" i="0">
                <a:solidFill>
                  <a:srgbClr val="FFFFFF"/>
                </a:solidFill>
              </a:rPr>
              <a:t>Fund Name</a:t>
            </a:r>
          </a:p>
        </p:txBody>
      </p:sp>
      <p:sp>
        <p:nvSpPr>
          <p:cNvPr id="34" name="Rectangle 33"/>
          <p:cNvSpPr/>
          <p:nvPr/>
        </p:nvSpPr>
        <p:spPr>
          <a:xfrm>
            <a:off x="6903720" y="3429000"/>
            <a:ext cx="850392"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931152" y="3465576"/>
            <a:ext cx="813815" cy="201168"/>
          </a:xfrm>
          <a:prstGeom prst="rect">
            <a:avLst/>
          </a:prstGeom>
          <a:noFill/>
        </p:spPr>
        <p:txBody>
          <a:bodyPr wrap="square">
            <a:spAutoFit/>
          </a:bodyPr>
          <a:lstStyle/>
          <a:p>
            <a:pPr algn="ctr"/>
            <a:r>
              <a:rPr sz="850" b="1" i="0">
                <a:solidFill>
                  <a:srgbClr val="FFFFFF"/>
                </a:solidFill>
              </a:rPr>
              <a:t>Score</a:t>
            </a:r>
          </a:p>
        </p:txBody>
      </p:sp>
      <p:sp>
        <p:nvSpPr>
          <p:cNvPr id="36" name="Rectangle 35"/>
          <p:cNvSpPr/>
          <p:nvPr/>
        </p:nvSpPr>
        <p:spPr>
          <a:xfrm>
            <a:off x="7818120" y="3429000"/>
            <a:ext cx="850392"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845552" y="3465576"/>
            <a:ext cx="813815" cy="201168"/>
          </a:xfrm>
          <a:prstGeom prst="rect">
            <a:avLst/>
          </a:prstGeom>
          <a:noFill/>
        </p:spPr>
        <p:txBody>
          <a:bodyPr wrap="square">
            <a:spAutoFit/>
          </a:bodyPr>
          <a:lstStyle/>
          <a:p>
            <a:pPr algn="ctr"/>
            <a:r>
              <a:rPr sz="850" b="1" i="0">
                <a:solidFill>
                  <a:srgbClr val="FFFFFF"/>
                </a:solidFill>
              </a:rPr>
              <a:t>3yr CAGR</a:t>
            </a:r>
          </a:p>
        </p:txBody>
      </p:sp>
      <p:sp>
        <p:nvSpPr>
          <p:cNvPr id="38" name="Rectangle 37"/>
          <p:cNvSpPr/>
          <p:nvPr/>
        </p:nvSpPr>
        <p:spPr>
          <a:xfrm>
            <a:off x="8732520" y="3429000"/>
            <a:ext cx="850392"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759952" y="3465576"/>
            <a:ext cx="813815" cy="201168"/>
          </a:xfrm>
          <a:prstGeom prst="rect">
            <a:avLst/>
          </a:prstGeom>
          <a:noFill/>
        </p:spPr>
        <p:txBody>
          <a:bodyPr wrap="square">
            <a:spAutoFit/>
          </a:bodyPr>
          <a:lstStyle/>
          <a:p>
            <a:pPr algn="ctr"/>
            <a:r>
              <a:rPr sz="850" b="1" i="0">
                <a:solidFill>
                  <a:srgbClr val="FFFFFF"/>
                </a:solidFill>
              </a:rPr>
              <a:t>Sharpe</a:t>
            </a:r>
          </a:p>
        </p:txBody>
      </p:sp>
      <p:sp>
        <p:nvSpPr>
          <p:cNvPr id="40" name="Rectangle 39"/>
          <p:cNvSpPr/>
          <p:nvPr/>
        </p:nvSpPr>
        <p:spPr>
          <a:xfrm>
            <a:off x="9646920" y="3429000"/>
            <a:ext cx="850392"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674352" y="3465576"/>
            <a:ext cx="813815" cy="201168"/>
          </a:xfrm>
          <a:prstGeom prst="rect">
            <a:avLst/>
          </a:prstGeom>
          <a:noFill/>
        </p:spPr>
        <p:txBody>
          <a:bodyPr wrap="square">
            <a:spAutoFit/>
          </a:bodyPr>
          <a:lstStyle/>
          <a:p>
            <a:pPr algn="ctr"/>
            <a:r>
              <a:rPr sz="850" b="1" i="0">
                <a:solidFill>
                  <a:srgbClr val="FFFFFF"/>
                </a:solidFill>
              </a:rPr>
              <a:t>Alpha %</a:t>
            </a:r>
          </a:p>
        </p:txBody>
      </p:sp>
      <p:sp>
        <p:nvSpPr>
          <p:cNvPr id="42" name="Rectangle 41"/>
          <p:cNvSpPr/>
          <p:nvPr/>
        </p:nvSpPr>
        <p:spPr>
          <a:xfrm>
            <a:off x="10607040" y="3429000"/>
            <a:ext cx="1261872" cy="2743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634472" y="3465576"/>
            <a:ext cx="1225295" cy="201168"/>
          </a:xfrm>
          <a:prstGeom prst="rect">
            <a:avLst/>
          </a:prstGeom>
          <a:noFill/>
        </p:spPr>
        <p:txBody>
          <a:bodyPr wrap="square">
            <a:spAutoFit/>
          </a:bodyPr>
          <a:lstStyle/>
          <a:p>
            <a:pPr algn="ctr"/>
            <a:r>
              <a:rPr sz="850" b="1" i="0">
                <a:solidFill>
                  <a:srgbClr val="FFFFFF"/>
                </a:solidFill>
              </a:rPr>
              <a:t>Max DD %</a:t>
            </a:r>
          </a:p>
        </p:txBody>
      </p:sp>
      <p:sp>
        <p:nvSpPr>
          <p:cNvPr id="44" name="Rectangle 43"/>
          <p:cNvSpPr/>
          <p:nvPr/>
        </p:nvSpPr>
        <p:spPr>
          <a:xfrm>
            <a:off x="182880" y="3739896"/>
            <a:ext cx="43891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10312" y="3794759"/>
            <a:ext cx="402336" cy="329184"/>
          </a:xfrm>
          <a:prstGeom prst="rect">
            <a:avLst/>
          </a:prstGeom>
          <a:noFill/>
        </p:spPr>
        <p:txBody>
          <a:bodyPr wrap="square">
            <a:spAutoFit/>
          </a:bodyPr>
          <a:lstStyle/>
          <a:p>
            <a:pPr algn="ctr"/>
            <a:r>
              <a:rPr sz="900" b="1" i="0">
                <a:solidFill>
                  <a:srgbClr val="1565C0"/>
                </a:solidFill>
              </a:rPr>
              <a:t>1</a:t>
            </a:r>
          </a:p>
        </p:txBody>
      </p:sp>
      <p:sp>
        <p:nvSpPr>
          <p:cNvPr id="46" name="Rectangle 45"/>
          <p:cNvSpPr/>
          <p:nvPr/>
        </p:nvSpPr>
        <p:spPr>
          <a:xfrm>
            <a:off x="685800" y="3739896"/>
            <a:ext cx="615391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3232" y="3794759"/>
            <a:ext cx="6117336" cy="329184"/>
          </a:xfrm>
          <a:prstGeom prst="rect">
            <a:avLst/>
          </a:prstGeom>
          <a:noFill/>
        </p:spPr>
        <p:txBody>
          <a:bodyPr wrap="square">
            <a:spAutoFit/>
          </a:bodyPr>
          <a:lstStyle/>
          <a:p>
            <a:pPr algn="ctr"/>
            <a:r>
              <a:rPr sz="900" b="0" i="0">
                <a:solidFill>
                  <a:srgbClr val="1A1A2E"/>
                </a:solidFill>
              </a:rPr>
              <a:t>ICICI Pru Midcap Fund - Regular</a:t>
            </a:r>
          </a:p>
        </p:txBody>
      </p:sp>
      <p:sp>
        <p:nvSpPr>
          <p:cNvPr id="48" name="Rectangle 47"/>
          <p:cNvSpPr/>
          <p:nvPr/>
        </p:nvSpPr>
        <p:spPr>
          <a:xfrm>
            <a:off x="6903720" y="3739896"/>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931152" y="3794759"/>
            <a:ext cx="813815" cy="329184"/>
          </a:xfrm>
          <a:prstGeom prst="rect">
            <a:avLst/>
          </a:prstGeom>
          <a:noFill/>
        </p:spPr>
        <p:txBody>
          <a:bodyPr wrap="square">
            <a:spAutoFit/>
          </a:bodyPr>
          <a:lstStyle/>
          <a:p>
            <a:pPr algn="ctr"/>
            <a:r>
              <a:rPr sz="900" b="1" i="0">
                <a:solidFill>
                  <a:srgbClr val="00897B"/>
                </a:solidFill>
              </a:rPr>
              <a:t>100.0</a:t>
            </a:r>
          </a:p>
        </p:txBody>
      </p:sp>
      <p:sp>
        <p:nvSpPr>
          <p:cNvPr id="50" name="Rectangle 49"/>
          <p:cNvSpPr/>
          <p:nvPr/>
        </p:nvSpPr>
        <p:spPr>
          <a:xfrm>
            <a:off x="7818120" y="3739896"/>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845552" y="3794759"/>
            <a:ext cx="813815" cy="329184"/>
          </a:xfrm>
          <a:prstGeom prst="rect">
            <a:avLst/>
          </a:prstGeom>
          <a:noFill/>
        </p:spPr>
        <p:txBody>
          <a:bodyPr wrap="square">
            <a:spAutoFit/>
          </a:bodyPr>
          <a:lstStyle/>
          <a:p>
            <a:pPr algn="ctr"/>
            <a:r>
              <a:rPr sz="900" b="0" i="0">
                <a:solidFill>
                  <a:srgbClr val="1A1A2E"/>
                </a:solidFill>
              </a:rPr>
              <a:t>31.77%</a:t>
            </a:r>
          </a:p>
        </p:txBody>
      </p:sp>
      <p:sp>
        <p:nvSpPr>
          <p:cNvPr id="52" name="Rectangle 51"/>
          <p:cNvSpPr/>
          <p:nvPr/>
        </p:nvSpPr>
        <p:spPr>
          <a:xfrm>
            <a:off x="8732520" y="3739896"/>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759952" y="3794759"/>
            <a:ext cx="813815" cy="329184"/>
          </a:xfrm>
          <a:prstGeom prst="rect">
            <a:avLst/>
          </a:prstGeom>
          <a:noFill/>
        </p:spPr>
        <p:txBody>
          <a:bodyPr wrap="square">
            <a:spAutoFit/>
          </a:bodyPr>
          <a:lstStyle/>
          <a:p>
            <a:pPr algn="ctr"/>
            <a:r>
              <a:rPr sz="900" b="0" i="0">
                <a:solidFill>
                  <a:srgbClr val="1A1A2E"/>
                </a:solidFill>
              </a:rPr>
              <a:t>1.181</a:t>
            </a:r>
          </a:p>
        </p:txBody>
      </p:sp>
      <p:sp>
        <p:nvSpPr>
          <p:cNvPr id="54" name="Rectangle 53"/>
          <p:cNvSpPr/>
          <p:nvPr/>
        </p:nvSpPr>
        <p:spPr>
          <a:xfrm>
            <a:off x="9646920" y="3739896"/>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674352" y="3794759"/>
            <a:ext cx="813815" cy="329184"/>
          </a:xfrm>
          <a:prstGeom prst="rect">
            <a:avLst/>
          </a:prstGeom>
          <a:noFill/>
        </p:spPr>
        <p:txBody>
          <a:bodyPr wrap="square">
            <a:spAutoFit/>
          </a:bodyPr>
          <a:lstStyle/>
          <a:p>
            <a:pPr algn="ctr"/>
            <a:r>
              <a:rPr sz="900" b="0" i="0">
                <a:solidFill>
                  <a:srgbClr val="1A1A2E"/>
                </a:solidFill>
              </a:rPr>
              <a:t>29.26%</a:t>
            </a:r>
          </a:p>
        </p:txBody>
      </p:sp>
      <p:sp>
        <p:nvSpPr>
          <p:cNvPr id="56" name="Rectangle 55"/>
          <p:cNvSpPr/>
          <p:nvPr/>
        </p:nvSpPr>
        <p:spPr>
          <a:xfrm>
            <a:off x="10607040" y="3739896"/>
            <a:ext cx="126187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10634472" y="3794759"/>
            <a:ext cx="1225295" cy="329184"/>
          </a:xfrm>
          <a:prstGeom prst="rect">
            <a:avLst/>
          </a:prstGeom>
          <a:noFill/>
        </p:spPr>
        <p:txBody>
          <a:bodyPr wrap="square">
            <a:spAutoFit/>
          </a:bodyPr>
          <a:lstStyle/>
          <a:p>
            <a:pPr algn="ctr"/>
            <a:r>
              <a:rPr sz="900" b="0" i="0">
                <a:solidFill>
                  <a:srgbClr val="1A1A2E"/>
                </a:solidFill>
              </a:rPr>
              <a:t>-21.84%</a:t>
            </a:r>
          </a:p>
        </p:txBody>
      </p:sp>
      <p:sp>
        <p:nvSpPr>
          <p:cNvPr id="58" name="Rectangle 57"/>
          <p:cNvSpPr/>
          <p:nvPr/>
        </p:nvSpPr>
        <p:spPr>
          <a:xfrm>
            <a:off x="182880" y="4215383"/>
            <a:ext cx="43891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10312" y="4270247"/>
            <a:ext cx="402336" cy="329184"/>
          </a:xfrm>
          <a:prstGeom prst="rect">
            <a:avLst/>
          </a:prstGeom>
          <a:noFill/>
        </p:spPr>
        <p:txBody>
          <a:bodyPr wrap="square">
            <a:spAutoFit/>
          </a:bodyPr>
          <a:lstStyle/>
          <a:p>
            <a:pPr algn="ctr"/>
            <a:r>
              <a:rPr sz="900" b="1" i="0">
                <a:solidFill>
                  <a:srgbClr val="1565C0"/>
                </a:solidFill>
              </a:rPr>
              <a:t>2</a:t>
            </a:r>
          </a:p>
        </p:txBody>
      </p:sp>
      <p:sp>
        <p:nvSpPr>
          <p:cNvPr id="60" name="Rectangle 59"/>
          <p:cNvSpPr/>
          <p:nvPr/>
        </p:nvSpPr>
        <p:spPr>
          <a:xfrm>
            <a:off x="685800" y="4215383"/>
            <a:ext cx="615391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13232" y="4270247"/>
            <a:ext cx="6117336" cy="329184"/>
          </a:xfrm>
          <a:prstGeom prst="rect">
            <a:avLst/>
          </a:prstGeom>
          <a:noFill/>
        </p:spPr>
        <p:txBody>
          <a:bodyPr wrap="square">
            <a:spAutoFit/>
          </a:bodyPr>
          <a:lstStyle/>
          <a:p>
            <a:pPr algn="ctr"/>
            <a:r>
              <a:rPr sz="900" b="0" i="0">
                <a:solidFill>
                  <a:srgbClr val="1A1A2E"/>
                </a:solidFill>
              </a:rPr>
              <a:t>Axis Midcap Fund - Regular</a:t>
            </a:r>
          </a:p>
        </p:txBody>
      </p:sp>
      <p:sp>
        <p:nvSpPr>
          <p:cNvPr id="62" name="Rectangle 61"/>
          <p:cNvSpPr/>
          <p:nvPr/>
        </p:nvSpPr>
        <p:spPr>
          <a:xfrm>
            <a:off x="6903720" y="4215383"/>
            <a:ext cx="8503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6931152" y="4270247"/>
            <a:ext cx="813815" cy="329184"/>
          </a:xfrm>
          <a:prstGeom prst="rect">
            <a:avLst/>
          </a:prstGeom>
          <a:noFill/>
        </p:spPr>
        <p:txBody>
          <a:bodyPr wrap="square">
            <a:spAutoFit/>
          </a:bodyPr>
          <a:lstStyle/>
          <a:p>
            <a:pPr algn="ctr"/>
            <a:r>
              <a:rPr sz="900" b="1" i="0">
                <a:solidFill>
                  <a:srgbClr val="00897B"/>
                </a:solidFill>
              </a:rPr>
              <a:t>94.2</a:t>
            </a:r>
          </a:p>
        </p:txBody>
      </p:sp>
      <p:sp>
        <p:nvSpPr>
          <p:cNvPr id="64" name="Rectangle 63"/>
          <p:cNvSpPr/>
          <p:nvPr/>
        </p:nvSpPr>
        <p:spPr>
          <a:xfrm>
            <a:off x="7818120" y="4215383"/>
            <a:ext cx="8503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845552" y="4270247"/>
            <a:ext cx="813815" cy="329184"/>
          </a:xfrm>
          <a:prstGeom prst="rect">
            <a:avLst/>
          </a:prstGeom>
          <a:noFill/>
        </p:spPr>
        <p:txBody>
          <a:bodyPr wrap="square">
            <a:spAutoFit/>
          </a:bodyPr>
          <a:lstStyle/>
          <a:p>
            <a:pPr algn="ctr"/>
            <a:r>
              <a:rPr sz="900" b="0" i="0">
                <a:solidFill>
                  <a:srgbClr val="1A1A2E"/>
                </a:solidFill>
              </a:rPr>
              <a:t>35.10%</a:t>
            </a:r>
          </a:p>
        </p:txBody>
      </p:sp>
      <p:sp>
        <p:nvSpPr>
          <p:cNvPr id="66" name="Rectangle 65"/>
          <p:cNvSpPr/>
          <p:nvPr/>
        </p:nvSpPr>
        <p:spPr>
          <a:xfrm>
            <a:off x="8732520" y="4215383"/>
            <a:ext cx="8503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59952" y="4270247"/>
            <a:ext cx="813815" cy="329184"/>
          </a:xfrm>
          <a:prstGeom prst="rect">
            <a:avLst/>
          </a:prstGeom>
          <a:noFill/>
        </p:spPr>
        <p:txBody>
          <a:bodyPr wrap="square">
            <a:spAutoFit/>
          </a:bodyPr>
          <a:lstStyle/>
          <a:p>
            <a:pPr algn="ctr"/>
            <a:r>
              <a:rPr sz="900" b="0" i="0">
                <a:solidFill>
                  <a:srgbClr val="1A1A2E"/>
                </a:solidFill>
              </a:rPr>
              <a:t>0.999</a:t>
            </a:r>
          </a:p>
        </p:txBody>
      </p:sp>
      <p:sp>
        <p:nvSpPr>
          <p:cNvPr id="68" name="Rectangle 67"/>
          <p:cNvSpPr/>
          <p:nvPr/>
        </p:nvSpPr>
        <p:spPr>
          <a:xfrm>
            <a:off x="9646920" y="4215383"/>
            <a:ext cx="8503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674352" y="4270247"/>
            <a:ext cx="813815" cy="329184"/>
          </a:xfrm>
          <a:prstGeom prst="rect">
            <a:avLst/>
          </a:prstGeom>
          <a:noFill/>
        </p:spPr>
        <p:txBody>
          <a:bodyPr wrap="square">
            <a:spAutoFit/>
          </a:bodyPr>
          <a:lstStyle/>
          <a:p>
            <a:pPr algn="ctr"/>
            <a:r>
              <a:rPr sz="900" b="0" i="0">
                <a:solidFill>
                  <a:srgbClr val="1A1A2E"/>
                </a:solidFill>
              </a:rPr>
              <a:t>27.33%</a:t>
            </a:r>
          </a:p>
        </p:txBody>
      </p:sp>
      <p:sp>
        <p:nvSpPr>
          <p:cNvPr id="70" name="Rectangle 69"/>
          <p:cNvSpPr/>
          <p:nvPr/>
        </p:nvSpPr>
        <p:spPr>
          <a:xfrm>
            <a:off x="10607040" y="4215383"/>
            <a:ext cx="126187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0634472" y="4270247"/>
            <a:ext cx="1225295" cy="329184"/>
          </a:xfrm>
          <a:prstGeom prst="rect">
            <a:avLst/>
          </a:prstGeom>
          <a:noFill/>
        </p:spPr>
        <p:txBody>
          <a:bodyPr wrap="square">
            <a:spAutoFit/>
          </a:bodyPr>
          <a:lstStyle/>
          <a:p>
            <a:pPr algn="ctr"/>
            <a:r>
              <a:rPr sz="900" b="0" i="0">
                <a:solidFill>
                  <a:srgbClr val="1A1A2E"/>
                </a:solidFill>
              </a:rPr>
              <a:t>-23.10%</a:t>
            </a:r>
          </a:p>
        </p:txBody>
      </p:sp>
      <p:sp>
        <p:nvSpPr>
          <p:cNvPr id="72" name="Rectangle 71"/>
          <p:cNvSpPr/>
          <p:nvPr/>
        </p:nvSpPr>
        <p:spPr>
          <a:xfrm>
            <a:off x="182880" y="4690872"/>
            <a:ext cx="43891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210312" y="4745736"/>
            <a:ext cx="402336" cy="329184"/>
          </a:xfrm>
          <a:prstGeom prst="rect">
            <a:avLst/>
          </a:prstGeom>
          <a:noFill/>
        </p:spPr>
        <p:txBody>
          <a:bodyPr wrap="square">
            <a:spAutoFit/>
          </a:bodyPr>
          <a:lstStyle/>
          <a:p>
            <a:pPr algn="ctr"/>
            <a:r>
              <a:rPr sz="900" b="1" i="0">
                <a:solidFill>
                  <a:srgbClr val="1565C0"/>
                </a:solidFill>
              </a:rPr>
              <a:t>3</a:t>
            </a:r>
          </a:p>
        </p:txBody>
      </p:sp>
      <p:sp>
        <p:nvSpPr>
          <p:cNvPr id="74" name="Rectangle 73"/>
          <p:cNvSpPr/>
          <p:nvPr/>
        </p:nvSpPr>
        <p:spPr>
          <a:xfrm>
            <a:off x="685800" y="4690872"/>
            <a:ext cx="615391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13232" y="4745736"/>
            <a:ext cx="6117336" cy="329184"/>
          </a:xfrm>
          <a:prstGeom prst="rect">
            <a:avLst/>
          </a:prstGeom>
          <a:noFill/>
        </p:spPr>
        <p:txBody>
          <a:bodyPr wrap="square">
            <a:spAutoFit/>
          </a:bodyPr>
          <a:lstStyle/>
          <a:p>
            <a:pPr algn="ctr"/>
            <a:r>
              <a:rPr sz="900" b="0" i="0">
                <a:solidFill>
                  <a:srgbClr val="1A1A2E"/>
                </a:solidFill>
              </a:rPr>
              <a:t>HDFC Mid-Cap Opportunities - Regular</a:t>
            </a:r>
          </a:p>
        </p:txBody>
      </p:sp>
      <p:sp>
        <p:nvSpPr>
          <p:cNvPr id="76" name="Rectangle 75"/>
          <p:cNvSpPr/>
          <p:nvPr/>
        </p:nvSpPr>
        <p:spPr>
          <a:xfrm>
            <a:off x="6903720" y="4690872"/>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931152" y="4745736"/>
            <a:ext cx="813815" cy="329184"/>
          </a:xfrm>
          <a:prstGeom prst="rect">
            <a:avLst/>
          </a:prstGeom>
          <a:noFill/>
        </p:spPr>
        <p:txBody>
          <a:bodyPr wrap="square">
            <a:spAutoFit/>
          </a:bodyPr>
          <a:lstStyle/>
          <a:p>
            <a:pPr algn="ctr"/>
            <a:r>
              <a:rPr sz="900" b="1" i="0">
                <a:solidFill>
                  <a:srgbClr val="00897B"/>
                </a:solidFill>
              </a:rPr>
              <a:t>93.8</a:t>
            </a:r>
          </a:p>
        </p:txBody>
      </p:sp>
      <p:sp>
        <p:nvSpPr>
          <p:cNvPr id="78" name="Rectangle 77"/>
          <p:cNvSpPr/>
          <p:nvPr/>
        </p:nvSpPr>
        <p:spPr>
          <a:xfrm>
            <a:off x="7818120" y="4690872"/>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845552" y="4745736"/>
            <a:ext cx="813815" cy="329184"/>
          </a:xfrm>
          <a:prstGeom prst="rect">
            <a:avLst/>
          </a:prstGeom>
          <a:noFill/>
        </p:spPr>
        <p:txBody>
          <a:bodyPr wrap="square">
            <a:spAutoFit/>
          </a:bodyPr>
          <a:lstStyle/>
          <a:p>
            <a:pPr algn="ctr"/>
            <a:r>
              <a:rPr sz="900" b="0" i="0">
                <a:solidFill>
                  <a:srgbClr val="1A1A2E"/>
                </a:solidFill>
              </a:rPr>
              <a:t>32.43%</a:t>
            </a:r>
          </a:p>
        </p:txBody>
      </p:sp>
      <p:sp>
        <p:nvSpPr>
          <p:cNvPr id="80" name="Rectangle 79"/>
          <p:cNvSpPr/>
          <p:nvPr/>
        </p:nvSpPr>
        <p:spPr>
          <a:xfrm>
            <a:off x="8732520" y="4690872"/>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8759952" y="4745736"/>
            <a:ext cx="813815" cy="329184"/>
          </a:xfrm>
          <a:prstGeom prst="rect">
            <a:avLst/>
          </a:prstGeom>
          <a:noFill/>
        </p:spPr>
        <p:txBody>
          <a:bodyPr wrap="square">
            <a:spAutoFit/>
          </a:bodyPr>
          <a:lstStyle/>
          <a:p>
            <a:pPr algn="ctr"/>
            <a:r>
              <a:rPr sz="900" b="0" i="0">
                <a:solidFill>
                  <a:srgbClr val="1A1A2E"/>
                </a:solidFill>
              </a:rPr>
              <a:t>1.094</a:t>
            </a:r>
          </a:p>
        </p:txBody>
      </p:sp>
      <p:sp>
        <p:nvSpPr>
          <p:cNvPr id="82" name="Rectangle 81"/>
          <p:cNvSpPr/>
          <p:nvPr/>
        </p:nvSpPr>
        <p:spPr>
          <a:xfrm>
            <a:off x="9646920" y="4690872"/>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9674352" y="4745736"/>
            <a:ext cx="813815" cy="329184"/>
          </a:xfrm>
          <a:prstGeom prst="rect">
            <a:avLst/>
          </a:prstGeom>
          <a:noFill/>
        </p:spPr>
        <p:txBody>
          <a:bodyPr wrap="square">
            <a:spAutoFit/>
          </a:bodyPr>
          <a:lstStyle/>
          <a:p>
            <a:pPr algn="ctr"/>
            <a:r>
              <a:rPr sz="900" b="0" i="0">
                <a:solidFill>
                  <a:srgbClr val="1A1A2E"/>
                </a:solidFill>
              </a:rPr>
              <a:t>28.27%</a:t>
            </a:r>
          </a:p>
        </p:txBody>
      </p:sp>
      <p:sp>
        <p:nvSpPr>
          <p:cNvPr id="84" name="Rectangle 83"/>
          <p:cNvSpPr/>
          <p:nvPr/>
        </p:nvSpPr>
        <p:spPr>
          <a:xfrm>
            <a:off x="10607040" y="4690872"/>
            <a:ext cx="126187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10634472" y="4745736"/>
            <a:ext cx="1225295" cy="329184"/>
          </a:xfrm>
          <a:prstGeom prst="rect">
            <a:avLst/>
          </a:prstGeom>
          <a:noFill/>
        </p:spPr>
        <p:txBody>
          <a:bodyPr wrap="square">
            <a:spAutoFit/>
          </a:bodyPr>
          <a:lstStyle/>
          <a:p>
            <a:pPr algn="ctr"/>
            <a:r>
              <a:rPr sz="900" b="0" i="0">
                <a:solidFill>
                  <a:srgbClr val="1A1A2E"/>
                </a:solidFill>
              </a:rPr>
              <a:t>-13.67%</a:t>
            </a:r>
          </a:p>
        </p:txBody>
      </p:sp>
      <p:sp>
        <p:nvSpPr>
          <p:cNvPr id="86" name="Rectangle 85"/>
          <p:cNvSpPr/>
          <p:nvPr/>
        </p:nvSpPr>
        <p:spPr>
          <a:xfrm>
            <a:off x="182880" y="5166360"/>
            <a:ext cx="43891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10312" y="5221224"/>
            <a:ext cx="402336" cy="329184"/>
          </a:xfrm>
          <a:prstGeom prst="rect">
            <a:avLst/>
          </a:prstGeom>
          <a:noFill/>
        </p:spPr>
        <p:txBody>
          <a:bodyPr wrap="square">
            <a:spAutoFit/>
          </a:bodyPr>
          <a:lstStyle/>
          <a:p>
            <a:pPr algn="ctr"/>
            <a:r>
              <a:rPr sz="900" b="1" i="0">
                <a:solidFill>
                  <a:srgbClr val="1565C0"/>
                </a:solidFill>
              </a:rPr>
              <a:t>4</a:t>
            </a:r>
          </a:p>
        </p:txBody>
      </p:sp>
      <p:sp>
        <p:nvSpPr>
          <p:cNvPr id="88" name="Rectangle 87"/>
          <p:cNvSpPr/>
          <p:nvPr/>
        </p:nvSpPr>
        <p:spPr>
          <a:xfrm>
            <a:off x="685800" y="5166360"/>
            <a:ext cx="615391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713232" y="5221224"/>
            <a:ext cx="6117336" cy="329184"/>
          </a:xfrm>
          <a:prstGeom prst="rect">
            <a:avLst/>
          </a:prstGeom>
          <a:noFill/>
        </p:spPr>
        <p:txBody>
          <a:bodyPr wrap="square">
            <a:spAutoFit/>
          </a:bodyPr>
          <a:lstStyle/>
          <a:p>
            <a:pPr algn="ctr"/>
            <a:r>
              <a:rPr sz="900" b="0" i="0">
                <a:solidFill>
                  <a:srgbClr val="1A1A2E"/>
                </a:solidFill>
              </a:rPr>
              <a:t>Mirae Asset Large Cap - Regular</a:t>
            </a:r>
          </a:p>
        </p:txBody>
      </p:sp>
      <p:sp>
        <p:nvSpPr>
          <p:cNvPr id="90" name="Rectangle 89"/>
          <p:cNvSpPr/>
          <p:nvPr/>
        </p:nvSpPr>
        <p:spPr>
          <a:xfrm>
            <a:off x="6903720" y="5166360"/>
            <a:ext cx="8503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6931152" y="5221224"/>
            <a:ext cx="813815" cy="329184"/>
          </a:xfrm>
          <a:prstGeom prst="rect">
            <a:avLst/>
          </a:prstGeom>
          <a:noFill/>
        </p:spPr>
        <p:txBody>
          <a:bodyPr wrap="square">
            <a:spAutoFit/>
          </a:bodyPr>
          <a:lstStyle/>
          <a:p>
            <a:pPr algn="ctr"/>
            <a:r>
              <a:rPr sz="900" b="1" i="0">
                <a:solidFill>
                  <a:srgbClr val="00897B"/>
                </a:solidFill>
              </a:rPr>
              <a:t>93.0</a:t>
            </a:r>
          </a:p>
        </p:txBody>
      </p:sp>
      <p:sp>
        <p:nvSpPr>
          <p:cNvPr id="92" name="Rectangle 91"/>
          <p:cNvSpPr/>
          <p:nvPr/>
        </p:nvSpPr>
        <p:spPr>
          <a:xfrm>
            <a:off x="7818120" y="5166360"/>
            <a:ext cx="8503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7845552" y="5221224"/>
            <a:ext cx="813815" cy="329184"/>
          </a:xfrm>
          <a:prstGeom prst="rect">
            <a:avLst/>
          </a:prstGeom>
          <a:noFill/>
        </p:spPr>
        <p:txBody>
          <a:bodyPr wrap="square">
            <a:spAutoFit/>
          </a:bodyPr>
          <a:lstStyle/>
          <a:p>
            <a:pPr algn="ctr"/>
            <a:r>
              <a:rPr sz="900" b="0" i="0">
                <a:solidFill>
                  <a:srgbClr val="1A1A2E"/>
                </a:solidFill>
              </a:rPr>
              <a:t>33.99%</a:t>
            </a:r>
          </a:p>
        </p:txBody>
      </p:sp>
      <p:sp>
        <p:nvSpPr>
          <p:cNvPr id="94" name="Rectangle 93"/>
          <p:cNvSpPr/>
          <p:nvPr/>
        </p:nvSpPr>
        <p:spPr>
          <a:xfrm>
            <a:off x="8732520" y="5166360"/>
            <a:ext cx="8503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8759952" y="5221224"/>
            <a:ext cx="813815" cy="329184"/>
          </a:xfrm>
          <a:prstGeom prst="rect">
            <a:avLst/>
          </a:prstGeom>
          <a:noFill/>
        </p:spPr>
        <p:txBody>
          <a:bodyPr wrap="square">
            <a:spAutoFit/>
          </a:bodyPr>
          <a:lstStyle/>
          <a:p>
            <a:pPr algn="ctr"/>
            <a:r>
              <a:rPr sz="900" b="0" i="0">
                <a:solidFill>
                  <a:srgbClr val="1A1A2E"/>
                </a:solidFill>
              </a:rPr>
              <a:t>1.449</a:t>
            </a:r>
          </a:p>
        </p:txBody>
      </p:sp>
      <p:sp>
        <p:nvSpPr>
          <p:cNvPr id="96" name="Rectangle 95"/>
          <p:cNvSpPr/>
          <p:nvPr/>
        </p:nvSpPr>
        <p:spPr>
          <a:xfrm>
            <a:off x="9646920" y="5166360"/>
            <a:ext cx="85039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674352" y="5221224"/>
            <a:ext cx="813815" cy="329184"/>
          </a:xfrm>
          <a:prstGeom prst="rect">
            <a:avLst/>
          </a:prstGeom>
          <a:noFill/>
        </p:spPr>
        <p:txBody>
          <a:bodyPr wrap="square">
            <a:spAutoFit/>
          </a:bodyPr>
          <a:lstStyle/>
          <a:p>
            <a:pPr algn="ctr"/>
            <a:r>
              <a:rPr sz="900" b="0" i="0">
                <a:solidFill>
                  <a:srgbClr val="1A1A2E"/>
                </a:solidFill>
              </a:rPr>
              <a:t>26.80%</a:t>
            </a:r>
          </a:p>
        </p:txBody>
      </p:sp>
      <p:sp>
        <p:nvSpPr>
          <p:cNvPr id="98" name="Rectangle 97"/>
          <p:cNvSpPr/>
          <p:nvPr/>
        </p:nvSpPr>
        <p:spPr>
          <a:xfrm>
            <a:off x="10607040" y="5166360"/>
            <a:ext cx="1261872" cy="438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0634472" y="5221224"/>
            <a:ext cx="1225295" cy="329184"/>
          </a:xfrm>
          <a:prstGeom prst="rect">
            <a:avLst/>
          </a:prstGeom>
          <a:noFill/>
        </p:spPr>
        <p:txBody>
          <a:bodyPr wrap="square">
            <a:spAutoFit/>
          </a:bodyPr>
          <a:lstStyle/>
          <a:p>
            <a:pPr algn="ctr"/>
            <a:r>
              <a:rPr sz="900" b="0" i="0">
                <a:solidFill>
                  <a:srgbClr val="1A1A2E"/>
                </a:solidFill>
              </a:rPr>
              <a:t>-17.07%</a:t>
            </a:r>
          </a:p>
        </p:txBody>
      </p:sp>
      <p:sp>
        <p:nvSpPr>
          <p:cNvPr id="100" name="Rectangle 99"/>
          <p:cNvSpPr/>
          <p:nvPr/>
        </p:nvSpPr>
        <p:spPr>
          <a:xfrm>
            <a:off x="182880" y="5641848"/>
            <a:ext cx="43891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210312" y="5696712"/>
            <a:ext cx="402336" cy="329184"/>
          </a:xfrm>
          <a:prstGeom prst="rect">
            <a:avLst/>
          </a:prstGeom>
          <a:noFill/>
        </p:spPr>
        <p:txBody>
          <a:bodyPr wrap="square">
            <a:spAutoFit/>
          </a:bodyPr>
          <a:lstStyle/>
          <a:p>
            <a:pPr algn="ctr"/>
            <a:r>
              <a:rPr sz="900" b="1" i="0">
                <a:solidFill>
                  <a:srgbClr val="1565C0"/>
                </a:solidFill>
              </a:rPr>
              <a:t>5</a:t>
            </a:r>
          </a:p>
        </p:txBody>
      </p:sp>
      <p:sp>
        <p:nvSpPr>
          <p:cNvPr id="102" name="Rectangle 101"/>
          <p:cNvSpPr/>
          <p:nvPr/>
        </p:nvSpPr>
        <p:spPr>
          <a:xfrm>
            <a:off x="685800" y="5641848"/>
            <a:ext cx="615391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713232" y="5696712"/>
            <a:ext cx="6117336" cy="329184"/>
          </a:xfrm>
          <a:prstGeom prst="rect">
            <a:avLst/>
          </a:prstGeom>
          <a:noFill/>
        </p:spPr>
        <p:txBody>
          <a:bodyPr wrap="square">
            <a:spAutoFit/>
          </a:bodyPr>
          <a:lstStyle/>
          <a:p>
            <a:pPr algn="ctr"/>
            <a:r>
              <a:rPr sz="900" b="0" i="0">
                <a:solidFill>
                  <a:srgbClr val="1A1A2E"/>
                </a:solidFill>
              </a:rPr>
              <a:t>Kotak Flexicap Fund - Regular</a:t>
            </a:r>
          </a:p>
        </p:txBody>
      </p:sp>
      <p:sp>
        <p:nvSpPr>
          <p:cNvPr id="104" name="Rectangle 103"/>
          <p:cNvSpPr/>
          <p:nvPr/>
        </p:nvSpPr>
        <p:spPr>
          <a:xfrm>
            <a:off x="6903720" y="5641848"/>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6931152" y="5696712"/>
            <a:ext cx="813815" cy="329184"/>
          </a:xfrm>
          <a:prstGeom prst="rect">
            <a:avLst/>
          </a:prstGeom>
          <a:noFill/>
        </p:spPr>
        <p:txBody>
          <a:bodyPr wrap="square">
            <a:spAutoFit/>
          </a:bodyPr>
          <a:lstStyle/>
          <a:p>
            <a:pPr algn="ctr"/>
            <a:r>
              <a:rPr sz="900" b="1" i="0">
                <a:solidFill>
                  <a:srgbClr val="00897B"/>
                </a:solidFill>
              </a:rPr>
              <a:t>90.3</a:t>
            </a:r>
          </a:p>
        </p:txBody>
      </p:sp>
      <p:sp>
        <p:nvSpPr>
          <p:cNvPr id="106" name="Rectangle 105"/>
          <p:cNvSpPr/>
          <p:nvPr/>
        </p:nvSpPr>
        <p:spPr>
          <a:xfrm>
            <a:off x="7818120" y="5641848"/>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7845552" y="5696712"/>
            <a:ext cx="813815" cy="329184"/>
          </a:xfrm>
          <a:prstGeom prst="rect">
            <a:avLst/>
          </a:prstGeom>
          <a:noFill/>
        </p:spPr>
        <p:txBody>
          <a:bodyPr wrap="square">
            <a:spAutoFit/>
          </a:bodyPr>
          <a:lstStyle/>
          <a:p>
            <a:pPr algn="ctr"/>
            <a:r>
              <a:rPr sz="900" b="0" i="0">
                <a:solidFill>
                  <a:srgbClr val="1A1A2E"/>
                </a:solidFill>
              </a:rPr>
              <a:t>29.58%</a:t>
            </a:r>
          </a:p>
        </p:txBody>
      </p:sp>
      <p:sp>
        <p:nvSpPr>
          <p:cNvPr id="108" name="Rectangle 107"/>
          <p:cNvSpPr/>
          <p:nvPr/>
        </p:nvSpPr>
        <p:spPr>
          <a:xfrm>
            <a:off x="8732520" y="5641848"/>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8759952" y="5696712"/>
            <a:ext cx="813815" cy="329184"/>
          </a:xfrm>
          <a:prstGeom prst="rect">
            <a:avLst/>
          </a:prstGeom>
          <a:noFill/>
        </p:spPr>
        <p:txBody>
          <a:bodyPr wrap="square">
            <a:spAutoFit/>
          </a:bodyPr>
          <a:lstStyle/>
          <a:p>
            <a:pPr algn="ctr"/>
            <a:r>
              <a:rPr sz="900" b="0" i="0">
                <a:solidFill>
                  <a:srgbClr val="1A1A2E"/>
                </a:solidFill>
              </a:rPr>
              <a:t>1.307</a:t>
            </a:r>
          </a:p>
        </p:txBody>
      </p:sp>
      <p:sp>
        <p:nvSpPr>
          <p:cNvPr id="110" name="Rectangle 109"/>
          <p:cNvSpPr/>
          <p:nvPr/>
        </p:nvSpPr>
        <p:spPr>
          <a:xfrm>
            <a:off x="9646920" y="5641848"/>
            <a:ext cx="85039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9674352" y="5696712"/>
            <a:ext cx="813815" cy="329184"/>
          </a:xfrm>
          <a:prstGeom prst="rect">
            <a:avLst/>
          </a:prstGeom>
          <a:noFill/>
        </p:spPr>
        <p:txBody>
          <a:bodyPr wrap="square">
            <a:spAutoFit/>
          </a:bodyPr>
          <a:lstStyle/>
          <a:p>
            <a:pPr algn="ctr"/>
            <a:r>
              <a:rPr sz="900" b="0" i="0">
                <a:solidFill>
                  <a:srgbClr val="1A1A2E"/>
                </a:solidFill>
              </a:rPr>
              <a:t>27.33%</a:t>
            </a:r>
          </a:p>
        </p:txBody>
      </p:sp>
      <p:sp>
        <p:nvSpPr>
          <p:cNvPr id="112" name="Rectangle 111"/>
          <p:cNvSpPr/>
          <p:nvPr/>
        </p:nvSpPr>
        <p:spPr>
          <a:xfrm>
            <a:off x="10607040" y="5641848"/>
            <a:ext cx="1261872" cy="43891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0634472" y="5696712"/>
            <a:ext cx="1225295" cy="329184"/>
          </a:xfrm>
          <a:prstGeom prst="rect">
            <a:avLst/>
          </a:prstGeom>
          <a:noFill/>
        </p:spPr>
        <p:txBody>
          <a:bodyPr wrap="square">
            <a:spAutoFit/>
          </a:bodyPr>
          <a:lstStyle/>
          <a:p>
            <a:pPr algn="ctr"/>
            <a:r>
              <a:rPr sz="900" b="0" i="0">
                <a:solidFill>
                  <a:srgbClr val="1A1A2E"/>
                </a:solidFill>
              </a:rPr>
              <a:t>-19.50%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411480"/>
          </a:xfrm>
          <a:prstGeom prst="rect">
            <a:avLst/>
          </a:prstGeom>
          <a:noFill/>
        </p:spPr>
        <p:txBody>
          <a:bodyPr wrap="square">
            <a:spAutoFit/>
          </a:bodyPr>
          <a:lstStyle/>
          <a:p>
            <a:pPr algn="l"/>
            <a:r>
              <a:rPr sz="2000" b="1" i="0">
                <a:solidFill>
                  <a:srgbClr val="FFFFFF"/>
                </a:solidFill>
              </a:rPr>
              <a:t>Interactive Streamlit Dashboard — 4 Pages  (Bonus B2)</a:t>
            </a:r>
          </a:p>
        </p:txBody>
      </p:sp>
      <p:sp>
        <p:nvSpPr>
          <p:cNvPr id="4" name="Rectangle 3"/>
          <p:cNvSpPr/>
          <p:nvPr/>
        </p:nvSpPr>
        <p:spPr>
          <a:xfrm>
            <a:off x="182880" y="658368"/>
            <a:ext cx="5806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658368"/>
            <a:ext cx="5806440" cy="82296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20040" y="731519"/>
            <a:ext cx="5486400" cy="731520"/>
          </a:xfrm>
          <a:prstGeom prst="rect">
            <a:avLst/>
          </a:prstGeom>
          <a:noFill/>
        </p:spPr>
        <p:txBody>
          <a:bodyPr wrap="square">
            <a:spAutoFit/>
          </a:bodyPr>
          <a:lstStyle/>
          <a:p>
            <a:pPr algn="l"/>
            <a:r>
              <a:rPr sz="1300" b="1" i="0">
                <a:solidFill>
                  <a:srgbClr val="FFFFFF"/>
                </a:solidFill>
              </a:rPr>
              <a:t>🏦  Page 1
Industry Overview</a:t>
            </a:r>
          </a:p>
        </p:txBody>
      </p:sp>
      <p:sp>
        <p:nvSpPr>
          <p:cNvPr id="7" name="TextBox 6"/>
          <p:cNvSpPr txBox="1"/>
          <p:nvPr/>
        </p:nvSpPr>
        <p:spPr>
          <a:xfrm>
            <a:off x="320040" y="1554480"/>
            <a:ext cx="5532120" cy="1737360"/>
          </a:xfrm>
          <a:prstGeom prst="rect">
            <a:avLst/>
          </a:prstGeom>
          <a:noFill/>
        </p:spPr>
        <p:txBody>
          <a:bodyPr wrap="square">
            <a:spAutoFit/>
          </a:bodyPr>
          <a:lstStyle/>
          <a:p>
            <a:pPr>
              <a:spcBef>
                <a:spcPts val="300"/>
              </a:spcBef>
            </a:pPr>
            <a:r>
              <a:rPr sz="1050">
                <a:solidFill>
                  <a:srgbClr val="1A1A2E"/>
                </a:solidFill>
              </a:rPr>
              <a:t>▸  5 KPI cards</a:t>
            </a:r>
          </a:p>
          <a:p>
            <a:pPr>
              <a:spcBef>
                <a:spcPts val="300"/>
              </a:spcBef>
            </a:pPr>
            <a:r>
              <a:rPr sz="1050">
                <a:solidFill>
                  <a:srgbClr val="1A1A2E"/>
                </a:solidFill>
              </a:rPr>
              <a:t>▸  AUM trend by AMC</a:t>
            </a:r>
          </a:p>
          <a:p>
            <a:pPr>
              <a:spcBef>
                <a:spcPts val="300"/>
              </a:spcBef>
            </a:pPr>
            <a:r>
              <a:rPr sz="1050">
                <a:solidFill>
                  <a:srgbClr val="1A1A2E"/>
                </a:solidFill>
              </a:rPr>
              <a:t>▸  SIP inflow area chart</a:t>
            </a:r>
          </a:p>
          <a:p>
            <a:pPr>
              <a:spcBef>
                <a:spcPts val="300"/>
              </a:spcBef>
            </a:pPr>
            <a:r>
              <a:rPr sz="1050">
                <a:solidFill>
                  <a:srgbClr val="1A1A2E"/>
                </a:solidFill>
              </a:rPr>
              <a:t>▸  Folio growth</a:t>
            </a:r>
          </a:p>
          <a:p>
            <a:pPr>
              <a:spcBef>
                <a:spcPts val="300"/>
              </a:spcBef>
            </a:pPr>
            <a:r>
              <a:rPr sz="1050">
                <a:solidFill>
                  <a:srgbClr val="1A1A2E"/>
                </a:solidFill>
              </a:rPr>
              <a:t>▸  Monthly benchmark</a:t>
            </a:r>
          </a:p>
        </p:txBody>
      </p:sp>
      <p:sp>
        <p:nvSpPr>
          <p:cNvPr id="8" name="Rectangle 7"/>
          <p:cNvSpPr/>
          <p:nvPr/>
        </p:nvSpPr>
        <p:spPr>
          <a:xfrm>
            <a:off x="6199632" y="658368"/>
            <a:ext cx="5806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658368"/>
            <a:ext cx="5806440" cy="8229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36792" y="731519"/>
            <a:ext cx="5486400" cy="731520"/>
          </a:xfrm>
          <a:prstGeom prst="rect">
            <a:avLst/>
          </a:prstGeom>
          <a:noFill/>
        </p:spPr>
        <p:txBody>
          <a:bodyPr wrap="square">
            <a:spAutoFit/>
          </a:bodyPr>
          <a:lstStyle/>
          <a:p>
            <a:pPr algn="l"/>
            <a:r>
              <a:rPr sz="1300" b="1" i="0">
                <a:solidFill>
                  <a:srgbClr val="FFFFFF"/>
                </a:solidFill>
              </a:rPr>
              <a:t>📈  Page 2
Fund Performance</a:t>
            </a:r>
          </a:p>
        </p:txBody>
      </p:sp>
      <p:sp>
        <p:nvSpPr>
          <p:cNvPr id="11" name="TextBox 10"/>
          <p:cNvSpPr txBox="1"/>
          <p:nvPr/>
        </p:nvSpPr>
        <p:spPr>
          <a:xfrm>
            <a:off x="6336792" y="1554480"/>
            <a:ext cx="5532120" cy="1737360"/>
          </a:xfrm>
          <a:prstGeom prst="rect">
            <a:avLst/>
          </a:prstGeom>
          <a:noFill/>
        </p:spPr>
        <p:txBody>
          <a:bodyPr wrap="square">
            <a:spAutoFit/>
          </a:bodyPr>
          <a:lstStyle/>
          <a:p>
            <a:pPr>
              <a:spcBef>
                <a:spcPts val="300"/>
              </a:spcBef>
            </a:pPr>
            <a:r>
              <a:rPr sz="1050">
                <a:solidFill>
                  <a:srgbClr val="1A1A2E"/>
                </a:solidFill>
              </a:rPr>
              <a:t>▸  Risk/return bubble chart</a:t>
            </a:r>
          </a:p>
          <a:p>
            <a:pPr>
              <a:spcBef>
                <a:spcPts val="300"/>
              </a:spcBef>
            </a:pPr>
            <a:r>
              <a:rPr sz="1050">
                <a:solidFill>
                  <a:srgbClr val="1A1A2E"/>
                </a:solidFill>
              </a:rPr>
              <a:t>▸  Sortable scorecard table</a:t>
            </a:r>
          </a:p>
          <a:p>
            <a:pPr>
              <a:spcBef>
                <a:spcPts val="300"/>
              </a:spcBef>
            </a:pPr>
            <a:r>
              <a:rPr sz="1050">
                <a:solidFill>
                  <a:srgbClr val="1A1A2E"/>
                </a:solidFill>
              </a:rPr>
              <a:t>▸  NAV vs Nifty 50 selector</a:t>
            </a:r>
          </a:p>
          <a:p>
            <a:pPr>
              <a:spcBef>
                <a:spcPts val="300"/>
              </a:spcBef>
            </a:pPr>
            <a:r>
              <a:rPr sz="1050">
                <a:solidFill>
                  <a:srgbClr val="1A1A2E"/>
                </a:solidFill>
              </a:rPr>
              <a:t>▸  3 slicers</a:t>
            </a:r>
          </a:p>
        </p:txBody>
      </p:sp>
      <p:sp>
        <p:nvSpPr>
          <p:cNvPr id="12" name="Rectangle 11"/>
          <p:cNvSpPr/>
          <p:nvPr/>
        </p:nvSpPr>
        <p:spPr>
          <a:xfrm>
            <a:off x="182880" y="3657600"/>
            <a:ext cx="5806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3657600"/>
            <a:ext cx="5806440" cy="82296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20040" y="3730752"/>
            <a:ext cx="5486400" cy="731520"/>
          </a:xfrm>
          <a:prstGeom prst="rect">
            <a:avLst/>
          </a:prstGeom>
          <a:noFill/>
        </p:spPr>
        <p:txBody>
          <a:bodyPr wrap="square">
            <a:spAutoFit/>
          </a:bodyPr>
          <a:lstStyle/>
          <a:p>
            <a:pPr algn="l"/>
            <a:r>
              <a:rPr sz="1300" b="1" i="0">
                <a:solidFill>
                  <a:srgbClr val="FFFFFF"/>
                </a:solidFill>
              </a:rPr>
              <a:t>👥  Page 3
Investor Analytics</a:t>
            </a:r>
          </a:p>
        </p:txBody>
      </p:sp>
      <p:sp>
        <p:nvSpPr>
          <p:cNvPr id="15" name="TextBox 14"/>
          <p:cNvSpPr txBox="1"/>
          <p:nvPr/>
        </p:nvSpPr>
        <p:spPr>
          <a:xfrm>
            <a:off x="320040" y="4553712"/>
            <a:ext cx="5532120" cy="1737360"/>
          </a:xfrm>
          <a:prstGeom prst="rect">
            <a:avLst/>
          </a:prstGeom>
          <a:noFill/>
        </p:spPr>
        <p:txBody>
          <a:bodyPr wrap="square">
            <a:spAutoFit/>
          </a:bodyPr>
          <a:lstStyle/>
          <a:p>
            <a:pPr>
              <a:spcBef>
                <a:spcPts val="300"/>
              </a:spcBef>
            </a:pPr>
            <a:r>
              <a:rPr sz="1050">
                <a:solidFill>
                  <a:srgbClr val="1A1A2E"/>
                </a:solidFill>
              </a:rPr>
              <a:t>▸  State bar chart</a:t>
            </a:r>
          </a:p>
          <a:p>
            <a:pPr>
              <a:spcBef>
                <a:spcPts val="300"/>
              </a:spcBef>
            </a:pPr>
            <a:r>
              <a:rPr sz="1050">
                <a:solidFill>
                  <a:srgbClr val="1A1A2E"/>
                </a:solidFill>
              </a:rPr>
              <a:t>▸  Transaction donut</a:t>
            </a:r>
          </a:p>
          <a:p>
            <a:pPr>
              <a:spcBef>
                <a:spcPts val="300"/>
              </a:spcBef>
            </a:pPr>
            <a:r>
              <a:rPr sz="1050">
                <a:solidFill>
                  <a:srgbClr val="1A1A2E"/>
                </a:solidFill>
              </a:rPr>
              <a:t>▸  Age SIP bars</a:t>
            </a:r>
          </a:p>
          <a:p>
            <a:pPr>
              <a:spcBef>
                <a:spcPts val="300"/>
              </a:spcBef>
            </a:pPr>
            <a:r>
              <a:rPr sz="1050">
                <a:solidFill>
                  <a:srgbClr val="1A1A2E"/>
                </a:solidFill>
              </a:rPr>
              <a:t>▸  Gender split</a:t>
            </a:r>
          </a:p>
          <a:p>
            <a:pPr>
              <a:spcBef>
                <a:spcPts val="300"/>
              </a:spcBef>
            </a:pPr>
            <a:r>
              <a:rPr sz="1050">
                <a:solidFill>
                  <a:srgbClr val="1A1A2E"/>
                </a:solidFill>
              </a:rPr>
              <a:t>▸  T30/B30</a:t>
            </a:r>
          </a:p>
          <a:p>
            <a:pPr>
              <a:spcBef>
                <a:spcPts val="300"/>
              </a:spcBef>
            </a:pPr>
            <a:r>
              <a:rPr sz="1050">
                <a:solidFill>
                  <a:srgbClr val="1A1A2E"/>
                </a:solidFill>
              </a:rPr>
              <a:t>▸  Monthly volume</a:t>
            </a:r>
          </a:p>
        </p:txBody>
      </p:sp>
      <p:sp>
        <p:nvSpPr>
          <p:cNvPr id="16" name="Rectangle 15"/>
          <p:cNvSpPr/>
          <p:nvPr/>
        </p:nvSpPr>
        <p:spPr>
          <a:xfrm>
            <a:off x="6199632" y="3657600"/>
            <a:ext cx="5806440" cy="274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3657600"/>
            <a:ext cx="5806440" cy="82296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36792" y="3730752"/>
            <a:ext cx="5486400" cy="731520"/>
          </a:xfrm>
          <a:prstGeom prst="rect">
            <a:avLst/>
          </a:prstGeom>
          <a:noFill/>
        </p:spPr>
        <p:txBody>
          <a:bodyPr wrap="square">
            <a:spAutoFit/>
          </a:bodyPr>
          <a:lstStyle/>
          <a:p>
            <a:pPr algn="l"/>
            <a:r>
              <a:rPr sz="1300" b="1" i="0">
                <a:solidFill>
                  <a:srgbClr val="FFFFFF"/>
                </a:solidFill>
              </a:rPr>
              <a:t>📊  Page 4
SIP &amp; Market Trends</a:t>
            </a:r>
          </a:p>
        </p:txBody>
      </p:sp>
      <p:sp>
        <p:nvSpPr>
          <p:cNvPr id="19" name="TextBox 18"/>
          <p:cNvSpPr txBox="1"/>
          <p:nvPr/>
        </p:nvSpPr>
        <p:spPr>
          <a:xfrm>
            <a:off x="6336792" y="4553712"/>
            <a:ext cx="5532120" cy="1737360"/>
          </a:xfrm>
          <a:prstGeom prst="rect">
            <a:avLst/>
          </a:prstGeom>
          <a:noFill/>
        </p:spPr>
        <p:txBody>
          <a:bodyPr wrap="square">
            <a:spAutoFit/>
          </a:bodyPr>
          <a:lstStyle/>
          <a:p>
            <a:pPr>
              <a:spcBef>
                <a:spcPts val="300"/>
              </a:spcBef>
            </a:pPr>
            <a:r>
              <a:rPr sz="1050">
                <a:solidFill>
                  <a:srgbClr val="1A1A2E"/>
                </a:solidFill>
              </a:rPr>
              <a:t>▸  Dual-axis SIP + Nifty 50</a:t>
            </a:r>
          </a:p>
          <a:p>
            <a:pPr>
              <a:spcBef>
                <a:spcPts val="300"/>
              </a:spcBef>
            </a:pPr>
            <a:r>
              <a:rPr sz="1050">
                <a:solidFill>
                  <a:srgbClr val="1A1A2E"/>
                </a:solidFill>
              </a:rPr>
              <a:t>▸  Category heatmap</a:t>
            </a:r>
          </a:p>
          <a:p>
            <a:pPr>
              <a:spcBef>
                <a:spcPts val="300"/>
              </a:spcBef>
            </a:pPr>
            <a:r>
              <a:rPr sz="1050">
                <a:solidFill>
                  <a:srgbClr val="1A1A2E"/>
                </a:solidFill>
              </a:rPr>
              <a:t>▸  Top 5 categories</a:t>
            </a:r>
          </a:p>
          <a:p>
            <a:pPr>
              <a:spcBef>
                <a:spcPts val="300"/>
              </a:spcBef>
            </a:pPr>
            <a:r>
              <a:rPr sz="1050">
                <a:solidFill>
                  <a:srgbClr val="1A1A2E"/>
                </a:solidFill>
              </a:rPr>
              <a:t>▸  YoY growth bars</a:t>
            </a:r>
          </a:p>
        </p:txBody>
      </p:sp>
      <p:sp>
        <p:nvSpPr>
          <p:cNvPr id="20" name="Rectangle 19"/>
          <p:cNvSpPr/>
          <p:nvPr/>
        </p:nvSpPr>
        <p:spPr>
          <a:xfrm>
            <a:off x="182880" y="6446520"/>
            <a:ext cx="11823192" cy="3200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65760" y="6473952"/>
            <a:ext cx="11457432" cy="256032"/>
          </a:xfrm>
          <a:prstGeom prst="rect">
            <a:avLst/>
          </a:prstGeom>
          <a:noFill/>
        </p:spPr>
        <p:txBody>
          <a:bodyPr wrap="square">
            <a:spAutoFit/>
          </a:bodyPr>
          <a:lstStyle/>
          <a:p>
            <a:pPr algn="ctr"/>
            <a:r>
              <a:rPr sz="1000" b="1" i="0">
                <a:solidFill>
                  <a:srgbClr val="F9A825"/>
                </a:solidFill>
              </a:rPr>
              <a:t>▶  Run: streamlit run dashboard.py  →  http://localhost:8501  ·  All charts interactive  ·  Data: bluestock_mf.db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411480"/>
          </a:xfrm>
          <a:prstGeom prst="rect">
            <a:avLst/>
          </a:prstGeom>
          <a:noFill/>
        </p:spPr>
        <p:txBody>
          <a:bodyPr wrap="square">
            <a:spAutoFit/>
          </a:bodyPr>
          <a:lstStyle/>
          <a:p>
            <a:pPr algn="l"/>
            <a:r>
              <a:rPr sz="1800" b="1" i="0">
                <a:solidFill>
                  <a:srgbClr val="FFFFFF"/>
                </a:solidFill>
              </a:rPr>
              <a:t>Investor Analytics — 32,778 Transactions · 5,000 Investors · 12 States</a:t>
            </a:r>
          </a:p>
        </p:txBody>
      </p:sp>
      <p:sp>
        <p:nvSpPr>
          <p:cNvPr id="4" name="Rectangle 3"/>
          <p:cNvSpPr/>
          <p:nvPr/>
        </p:nvSpPr>
        <p:spPr>
          <a:xfrm>
            <a:off x="182880" y="658368"/>
            <a:ext cx="2240280" cy="91440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6888" y="731519"/>
            <a:ext cx="2112264" cy="502920"/>
          </a:xfrm>
          <a:prstGeom prst="rect">
            <a:avLst/>
          </a:prstGeom>
          <a:noFill/>
        </p:spPr>
        <p:txBody>
          <a:bodyPr wrap="square">
            <a:spAutoFit/>
          </a:bodyPr>
          <a:lstStyle/>
          <a:p>
            <a:pPr algn="ctr"/>
            <a:r>
              <a:rPr sz="2000" b="1" i="0">
                <a:solidFill>
                  <a:srgbClr val="FFFFFF"/>
                </a:solidFill>
              </a:rPr>
              <a:t>32,778</a:t>
            </a:r>
          </a:p>
        </p:txBody>
      </p:sp>
      <p:sp>
        <p:nvSpPr>
          <p:cNvPr id="6" name="TextBox 5"/>
          <p:cNvSpPr txBox="1"/>
          <p:nvPr/>
        </p:nvSpPr>
        <p:spPr>
          <a:xfrm>
            <a:off x="246888" y="1188719"/>
            <a:ext cx="2112264" cy="347472"/>
          </a:xfrm>
          <a:prstGeom prst="rect">
            <a:avLst/>
          </a:prstGeom>
          <a:noFill/>
        </p:spPr>
        <p:txBody>
          <a:bodyPr wrap="square">
            <a:spAutoFit/>
          </a:bodyPr>
          <a:lstStyle/>
          <a:p>
            <a:pPr algn="ctr"/>
            <a:r>
              <a:rPr sz="900" b="0" i="0">
                <a:solidFill>
                  <a:srgbClr val="CADCFC"/>
                </a:solidFill>
              </a:rPr>
              <a:t>Total Transactions</a:t>
            </a:r>
          </a:p>
        </p:txBody>
      </p:sp>
      <p:sp>
        <p:nvSpPr>
          <p:cNvPr id="7" name="Rectangle 6"/>
          <p:cNvSpPr/>
          <p:nvPr/>
        </p:nvSpPr>
        <p:spPr>
          <a:xfrm>
            <a:off x="2560320" y="658368"/>
            <a:ext cx="2240280" cy="91440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24328" y="731519"/>
            <a:ext cx="2112264" cy="502920"/>
          </a:xfrm>
          <a:prstGeom prst="rect">
            <a:avLst/>
          </a:prstGeom>
          <a:noFill/>
        </p:spPr>
        <p:txBody>
          <a:bodyPr wrap="square">
            <a:spAutoFit/>
          </a:bodyPr>
          <a:lstStyle/>
          <a:p>
            <a:pPr algn="ctr"/>
            <a:r>
              <a:rPr sz="2000" b="1" i="0">
                <a:solidFill>
                  <a:srgbClr val="FFFFFF"/>
                </a:solidFill>
              </a:rPr>
              <a:t>5,000</a:t>
            </a:r>
          </a:p>
        </p:txBody>
      </p:sp>
      <p:sp>
        <p:nvSpPr>
          <p:cNvPr id="9" name="TextBox 8"/>
          <p:cNvSpPr txBox="1"/>
          <p:nvPr/>
        </p:nvSpPr>
        <p:spPr>
          <a:xfrm>
            <a:off x="2624328" y="1188719"/>
            <a:ext cx="2112264" cy="347472"/>
          </a:xfrm>
          <a:prstGeom prst="rect">
            <a:avLst/>
          </a:prstGeom>
          <a:noFill/>
        </p:spPr>
        <p:txBody>
          <a:bodyPr wrap="square">
            <a:spAutoFit/>
          </a:bodyPr>
          <a:lstStyle/>
          <a:p>
            <a:pPr algn="ctr"/>
            <a:r>
              <a:rPr sz="900" b="0" i="0">
                <a:solidFill>
                  <a:srgbClr val="CADCFC"/>
                </a:solidFill>
              </a:rPr>
              <a:t>Unique Investors</a:t>
            </a:r>
          </a:p>
        </p:txBody>
      </p:sp>
      <p:sp>
        <p:nvSpPr>
          <p:cNvPr id="10" name="Rectangle 9"/>
          <p:cNvSpPr/>
          <p:nvPr/>
        </p:nvSpPr>
        <p:spPr>
          <a:xfrm>
            <a:off x="4937760" y="658368"/>
            <a:ext cx="2240280" cy="91440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01768" y="731519"/>
            <a:ext cx="2112264" cy="502920"/>
          </a:xfrm>
          <a:prstGeom prst="rect">
            <a:avLst/>
          </a:prstGeom>
          <a:noFill/>
        </p:spPr>
        <p:txBody>
          <a:bodyPr wrap="square">
            <a:spAutoFit/>
          </a:bodyPr>
          <a:lstStyle/>
          <a:p>
            <a:pPr algn="ctr"/>
            <a:r>
              <a:rPr sz="2000" b="1" i="0">
                <a:solidFill>
                  <a:srgbClr val="FFFFFF"/>
                </a:solidFill>
              </a:rPr>
              <a:t>12</a:t>
            </a:r>
          </a:p>
        </p:txBody>
      </p:sp>
      <p:sp>
        <p:nvSpPr>
          <p:cNvPr id="12" name="TextBox 11"/>
          <p:cNvSpPr txBox="1"/>
          <p:nvPr/>
        </p:nvSpPr>
        <p:spPr>
          <a:xfrm>
            <a:off x="5001768" y="1188719"/>
            <a:ext cx="2112264" cy="347472"/>
          </a:xfrm>
          <a:prstGeom prst="rect">
            <a:avLst/>
          </a:prstGeom>
          <a:noFill/>
        </p:spPr>
        <p:txBody>
          <a:bodyPr wrap="square">
            <a:spAutoFit/>
          </a:bodyPr>
          <a:lstStyle/>
          <a:p>
            <a:pPr algn="ctr"/>
            <a:r>
              <a:rPr sz="900" b="0" i="0">
                <a:solidFill>
                  <a:srgbClr val="CADCFC"/>
                </a:solidFill>
              </a:rPr>
              <a:t>States Covered</a:t>
            </a:r>
          </a:p>
        </p:txBody>
      </p:sp>
      <p:sp>
        <p:nvSpPr>
          <p:cNvPr id="13" name="Rectangle 12"/>
          <p:cNvSpPr/>
          <p:nvPr/>
        </p:nvSpPr>
        <p:spPr>
          <a:xfrm>
            <a:off x="7315200" y="658368"/>
            <a:ext cx="2240280" cy="91440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79208" y="731519"/>
            <a:ext cx="2112264" cy="502920"/>
          </a:xfrm>
          <a:prstGeom prst="rect">
            <a:avLst/>
          </a:prstGeom>
          <a:noFill/>
        </p:spPr>
        <p:txBody>
          <a:bodyPr wrap="square">
            <a:spAutoFit/>
          </a:bodyPr>
          <a:lstStyle/>
          <a:p>
            <a:pPr algn="ctr"/>
            <a:r>
              <a:rPr sz="2000" b="1" i="0">
                <a:solidFill>
                  <a:srgbClr val="FFFFFF"/>
                </a:solidFill>
              </a:rPr>
              <a:t>65.9%</a:t>
            </a:r>
          </a:p>
        </p:txBody>
      </p:sp>
      <p:sp>
        <p:nvSpPr>
          <p:cNvPr id="15" name="TextBox 14"/>
          <p:cNvSpPr txBox="1"/>
          <p:nvPr/>
        </p:nvSpPr>
        <p:spPr>
          <a:xfrm>
            <a:off x="7379208" y="1188719"/>
            <a:ext cx="2112264" cy="347472"/>
          </a:xfrm>
          <a:prstGeom prst="rect">
            <a:avLst/>
          </a:prstGeom>
          <a:noFill/>
        </p:spPr>
        <p:txBody>
          <a:bodyPr wrap="square">
            <a:spAutoFit/>
          </a:bodyPr>
          <a:lstStyle/>
          <a:p>
            <a:pPr algn="ctr"/>
            <a:r>
              <a:rPr sz="900" b="0" i="0">
                <a:solidFill>
                  <a:srgbClr val="CADCFC"/>
                </a:solidFill>
              </a:rPr>
              <a:t>T30 City Share</a:t>
            </a:r>
          </a:p>
        </p:txBody>
      </p:sp>
      <p:sp>
        <p:nvSpPr>
          <p:cNvPr id="16" name="Rectangle 15"/>
          <p:cNvSpPr/>
          <p:nvPr/>
        </p:nvSpPr>
        <p:spPr>
          <a:xfrm>
            <a:off x="9692640" y="658368"/>
            <a:ext cx="2240280" cy="91440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56648" y="731519"/>
            <a:ext cx="2112264" cy="502920"/>
          </a:xfrm>
          <a:prstGeom prst="rect">
            <a:avLst/>
          </a:prstGeom>
          <a:noFill/>
        </p:spPr>
        <p:txBody>
          <a:bodyPr wrap="square">
            <a:spAutoFit/>
          </a:bodyPr>
          <a:lstStyle/>
          <a:p>
            <a:pPr algn="ctr"/>
            <a:r>
              <a:rPr sz="2000" b="1" i="0">
                <a:solidFill>
                  <a:srgbClr val="FFFFFF"/>
                </a:solidFill>
              </a:rPr>
              <a:t>66.5%</a:t>
            </a:r>
          </a:p>
        </p:txBody>
      </p:sp>
      <p:sp>
        <p:nvSpPr>
          <p:cNvPr id="18" name="TextBox 17"/>
          <p:cNvSpPr txBox="1"/>
          <p:nvPr/>
        </p:nvSpPr>
        <p:spPr>
          <a:xfrm>
            <a:off x="9756648" y="1188719"/>
            <a:ext cx="2112264" cy="347472"/>
          </a:xfrm>
          <a:prstGeom prst="rect">
            <a:avLst/>
          </a:prstGeom>
          <a:noFill/>
        </p:spPr>
        <p:txBody>
          <a:bodyPr wrap="square">
            <a:spAutoFit/>
          </a:bodyPr>
          <a:lstStyle/>
          <a:p>
            <a:pPr algn="ctr"/>
            <a:r>
              <a:rPr sz="900" b="0" i="0">
                <a:solidFill>
                  <a:srgbClr val="CADCFC"/>
                </a:solidFill>
              </a:rPr>
              <a:t>Male Investors</a:t>
            </a:r>
          </a:p>
        </p:txBody>
      </p:sp>
      <p:sp>
        <p:nvSpPr>
          <p:cNvPr id="19" name="Rectangle 18"/>
          <p:cNvSpPr/>
          <p:nvPr/>
        </p:nvSpPr>
        <p:spPr>
          <a:xfrm>
            <a:off x="182880" y="1719072"/>
            <a:ext cx="58064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82880" y="1719072"/>
            <a:ext cx="5806440" cy="32004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74320" y="1773936"/>
            <a:ext cx="5577840" cy="256032"/>
          </a:xfrm>
          <a:prstGeom prst="rect">
            <a:avLst/>
          </a:prstGeom>
          <a:noFill/>
        </p:spPr>
        <p:txBody>
          <a:bodyPr wrap="square">
            <a:spAutoFit/>
          </a:bodyPr>
          <a:lstStyle/>
          <a:p>
            <a:pPr algn="l"/>
            <a:r>
              <a:rPr sz="1100" b="1" i="0">
                <a:solidFill>
                  <a:srgbClr val="FFFFFF"/>
                </a:solidFill>
              </a:rPr>
              <a:t>📍  Geographic Insights</a:t>
            </a:r>
          </a:p>
        </p:txBody>
      </p:sp>
      <p:sp>
        <p:nvSpPr>
          <p:cNvPr id="22" name="TextBox 21"/>
          <p:cNvSpPr txBox="1"/>
          <p:nvPr/>
        </p:nvSpPr>
        <p:spPr>
          <a:xfrm>
            <a:off x="320040" y="2103120"/>
            <a:ext cx="5532120" cy="1783080"/>
          </a:xfrm>
          <a:prstGeom prst="rect">
            <a:avLst/>
          </a:prstGeom>
          <a:noFill/>
        </p:spPr>
        <p:txBody>
          <a:bodyPr wrap="square">
            <a:spAutoFit/>
          </a:bodyPr>
          <a:lstStyle/>
          <a:p>
            <a:pPr>
              <a:spcBef>
                <a:spcPts val="300"/>
              </a:spcBef>
            </a:pPr>
            <a:r>
              <a:rPr sz="1050">
                <a:solidFill>
                  <a:srgbClr val="1A1A2E"/>
                </a:solidFill>
              </a:rPr>
              <a:t>▸  Punjab, Tamil Nadu, MP — top 3 states by SIP value</a:t>
            </a:r>
          </a:p>
          <a:p>
            <a:pPr>
              <a:spcBef>
                <a:spcPts val="300"/>
              </a:spcBef>
            </a:pPr>
            <a:r>
              <a:rPr sz="1050">
                <a:solidFill>
                  <a:srgbClr val="1A1A2E"/>
                </a:solidFill>
              </a:rPr>
              <a:t>▸  B30 cities contribute 34.1% — growing 2.5× faster</a:t>
            </a:r>
          </a:p>
          <a:p>
            <a:pPr>
              <a:spcBef>
                <a:spcPts val="300"/>
              </a:spcBef>
            </a:pPr>
            <a:r>
              <a:rPr sz="1050">
                <a:solidFill>
                  <a:srgbClr val="1A1A2E"/>
                </a:solidFill>
              </a:rPr>
              <a:t>▸  Maharashtra highest lumpsum amounts</a:t>
            </a:r>
          </a:p>
          <a:p>
            <a:pPr>
              <a:spcBef>
                <a:spcPts val="300"/>
              </a:spcBef>
            </a:pPr>
            <a:r>
              <a:rPr sz="1050">
                <a:solidFill>
                  <a:srgbClr val="1A1A2E"/>
                </a:solidFill>
              </a:rPr>
              <a:t>▸  Delhi + Telangana strongest T30 SIP markets</a:t>
            </a:r>
          </a:p>
        </p:txBody>
      </p:sp>
      <p:sp>
        <p:nvSpPr>
          <p:cNvPr id="23" name="Rectangle 22"/>
          <p:cNvSpPr/>
          <p:nvPr/>
        </p:nvSpPr>
        <p:spPr>
          <a:xfrm>
            <a:off x="6199632" y="1719072"/>
            <a:ext cx="58064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99632" y="1719072"/>
            <a:ext cx="5806440" cy="32004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91072" y="1773936"/>
            <a:ext cx="5577840" cy="256032"/>
          </a:xfrm>
          <a:prstGeom prst="rect">
            <a:avLst/>
          </a:prstGeom>
          <a:noFill/>
        </p:spPr>
        <p:txBody>
          <a:bodyPr wrap="square">
            <a:spAutoFit/>
          </a:bodyPr>
          <a:lstStyle/>
          <a:p>
            <a:pPr algn="l"/>
            <a:r>
              <a:rPr sz="1100" b="1" i="0">
                <a:solidFill>
                  <a:srgbClr val="FFFFFF"/>
                </a:solidFill>
              </a:rPr>
              <a:t>👤  Demographic Insights</a:t>
            </a:r>
          </a:p>
        </p:txBody>
      </p:sp>
      <p:sp>
        <p:nvSpPr>
          <p:cNvPr id="26" name="TextBox 25"/>
          <p:cNvSpPr txBox="1"/>
          <p:nvPr/>
        </p:nvSpPr>
        <p:spPr>
          <a:xfrm>
            <a:off x="6336792" y="2103120"/>
            <a:ext cx="5532120" cy="1783080"/>
          </a:xfrm>
          <a:prstGeom prst="rect">
            <a:avLst/>
          </a:prstGeom>
          <a:noFill/>
        </p:spPr>
        <p:txBody>
          <a:bodyPr wrap="square">
            <a:spAutoFit/>
          </a:bodyPr>
          <a:lstStyle/>
          <a:p>
            <a:pPr>
              <a:spcBef>
                <a:spcPts val="300"/>
              </a:spcBef>
            </a:pPr>
            <a:r>
              <a:rPr sz="1050">
                <a:solidFill>
                  <a:srgbClr val="1A1A2E"/>
                </a:solidFill>
              </a:rPr>
              <a:t>▸  56+ age group: highest avg SIP (₹11,575/month)</a:t>
            </a:r>
          </a:p>
          <a:p>
            <a:pPr>
              <a:spcBef>
                <a:spcPts val="300"/>
              </a:spcBef>
            </a:pPr>
            <a:r>
              <a:rPr sz="1050">
                <a:solidFill>
                  <a:srgbClr val="1A1A2E"/>
                </a:solidFill>
              </a:rPr>
              <a:t>▸  26–35 cohort: most SIP transactions (8,063)</a:t>
            </a:r>
          </a:p>
          <a:p>
            <a:pPr>
              <a:spcBef>
                <a:spcPts val="300"/>
              </a:spcBef>
            </a:pPr>
            <a:r>
              <a:rPr sz="1050">
                <a:solidFill>
                  <a:srgbClr val="1A1A2E"/>
                </a:solidFill>
              </a:rPr>
              <a:t>▸  Female investors: higher avg income proportion</a:t>
            </a:r>
          </a:p>
          <a:p>
            <a:pPr>
              <a:spcBef>
                <a:spcPts val="300"/>
              </a:spcBef>
            </a:pPr>
            <a:r>
              <a:rPr sz="1050">
                <a:solidFill>
                  <a:srgbClr val="1A1A2E"/>
                </a:solidFill>
              </a:rPr>
              <a:t>▸  UPI dominant payment mode (43% of transactions)</a:t>
            </a:r>
          </a:p>
        </p:txBody>
      </p:sp>
      <p:sp>
        <p:nvSpPr>
          <p:cNvPr id="27" name="Rectangle 26"/>
          <p:cNvSpPr/>
          <p:nvPr/>
        </p:nvSpPr>
        <p:spPr>
          <a:xfrm>
            <a:off x="182880" y="4114800"/>
            <a:ext cx="58064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82880" y="4114800"/>
            <a:ext cx="5806440" cy="32004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74320" y="4169663"/>
            <a:ext cx="5577840" cy="256032"/>
          </a:xfrm>
          <a:prstGeom prst="rect">
            <a:avLst/>
          </a:prstGeom>
          <a:noFill/>
        </p:spPr>
        <p:txBody>
          <a:bodyPr wrap="square">
            <a:spAutoFit/>
          </a:bodyPr>
          <a:lstStyle/>
          <a:p>
            <a:pPr algn="l"/>
            <a:r>
              <a:rPr sz="1100" b="1" i="0">
                <a:solidFill>
                  <a:srgbClr val="FFFFFF"/>
                </a:solidFill>
              </a:rPr>
              <a:t>💰  Transaction Patterns</a:t>
            </a:r>
          </a:p>
        </p:txBody>
      </p:sp>
      <p:sp>
        <p:nvSpPr>
          <p:cNvPr id="30" name="TextBox 29"/>
          <p:cNvSpPr txBox="1"/>
          <p:nvPr/>
        </p:nvSpPr>
        <p:spPr>
          <a:xfrm>
            <a:off x="320040" y="4498848"/>
            <a:ext cx="5532120" cy="1783080"/>
          </a:xfrm>
          <a:prstGeom prst="rect">
            <a:avLst/>
          </a:prstGeom>
          <a:noFill/>
        </p:spPr>
        <p:txBody>
          <a:bodyPr wrap="square">
            <a:spAutoFit/>
          </a:bodyPr>
          <a:lstStyle/>
          <a:p>
            <a:pPr>
              <a:spcBef>
                <a:spcPts val="300"/>
              </a:spcBef>
            </a:pPr>
            <a:r>
              <a:rPr sz="1050">
                <a:solidFill>
                  <a:srgbClr val="1A1A2E"/>
                </a:solidFill>
              </a:rPr>
              <a:t>▸  Lumpsum: ₹205.98 Cr total (avg ₹2.54L per txn)</a:t>
            </a:r>
          </a:p>
          <a:p>
            <a:pPr>
              <a:spcBef>
                <a:spcPts val="300"/>
              </a:spcBef>
            </a:pPr>
            <a:r>
              <a:rPr sz="1050">
                <a:solidFill>
                  <a:srgbClr val="1A1A2E"/>
                </a:solidFill>
              </a:rPr>
              <a:t>▸  Redemption: ₹124.45 Cr (avg ₹2.51L per txn)</a:t>
            </a:r>
          </a:p>
          <a:p>
            <a:pPr>
              <a:spcBef>
                <a:spcPts val="300"/>
              </a:spcBef>
            </a:pPr>
            <a:r>
              <a:rPr sz="1050">
                <a:solidFill>
                  <a:srgbClr val="1A1A2E"/>
                </a:solidFill>
              </a:rPr>
              <a:t>▸  SIP: ₹21.72 Cr (avg ₹11,018 per txn)</a:t>
            </a:r>
          </a:p>
          <a:p>
            <a:pPr>
              <a:spcBef>
                <a:spcPts val="300"/>
              </a:spcBef>
            </a:pPr>
            <a:r>
              <a:rPr sz="1050">
                <a:solidFill>
                  <a:srgbClr val="1A1A2E"/>
                </a:solidFill>
              </a:rPr>
              <a:t>▸  Peak transaction months: Q4 2024, Q1 2025</a:t>
            </a:r>
          </a:p>
        </p:txBody>
      </p:sp>
      <p:sp>
        <p:nvSpPr>
          <p:cNvPr id="31" name="Rectangle 30"/>
          <p:cNvSpPr/>
          <p:nvPr/>
        </p:nvSpPr>
        <p:spPr>
          <a:xfrm>
            <a:off x="6199632" y="4114800"/>
            <a:ext cx="5806440" cy="22402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199632" y="4114800"/>
            <a:ext cx="5806440" cy="320040"/>
          </a:xfrm>
          <a:prstGeom prst="rect">
            <a:avLst/>
          </a:prstGeom>
          <a:solidFill>
            <a:srgbClr val="0083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291072" y="4169663"/>
            <a:ext cx="5577840" cy="256032"/>
          </a:xfrm>
          <a:prstGeom prst="rect">
            <a:avLst/>
          </a:prstGeom>
          <a:noFill/>
        </p:spPr>
        <p:txBody>
          <a:bodyPr wrap="square">
            <a:spAutoFit/>
          </a:bodyPr>
          <a:lstStyle/>
          <a:p>
            <a:pPr algn="l"/>
            <a:r>
              <a:rPr sz="1100" b="1" i="0">
                <a:solidFill>
                  <a:srgbClr val="FFFFFF"/>
                </a:solidFill>
              </a:rPr>
              <a:t>🗓️  Cohort Analysis</a:t>
            </a:r>
          </a:p>
        </p:txBody>
      </p:sp>
      <p:sp>
        <p:nvSpPr>
          <p:cNvPr id="34" name="TextBox 33"/>
          <p:cNvSpPr txBox="1"/>
          <p:nvPr/>
        </p:nvSpPr>
        <p:spPr>
          <a:xfrm>
            <a:off x="6336792" y="4498848"/>
            <a:ext cx="5532120" cy="1783080"/>
          </a:xfrm>
          <a:prstGeom prst="rect">
            <a:avLst/>
          </a:prstGeom>
          <a:noFill/>
        </p:spPr>
        <p:txBody>
          <a:bodyPr wrap="square">
            <a:spAutoFit/>
          </a:bodyPr>
          <a:lstStyle/>
          <a:p>
            <a:pPr>
              <a:spcBef>
                <a:spcPts val="300"/>
              </a:spcBef>
            </a:pPr>
            <a:r>
              <a:rPr sz="1050">
                <a:solidFill>
                  <a:srgbClr val="1A1A2E"/>
                </a:solidFill>
              </a:rPr>
              <a:t>▸  2024 cohort: 4,624 investors, avg SIP ₹10,997</a:t>
            </a:r>
          </a:p>
          <a:p>
            <a:pPr>
              <a:spcBef>
                <a:spcPts val="300"/>
              </a:spcBef>
            </a:pPr>
            <a:r>
              <a:rPr sz="1050">
                <a:solidFill>
                  <a:srgbClr val="1A1A2E"/>
                </a:solidFill>
              </a:rPr>
              <a:t>▸  2025 cohort: 138 investors, avg SIP ₹13,505 (↑23%)</a:t>
            </a:r>
          </a:p>
          <a:p>
            <a:pPr>
              <a:spcBef>
                <a:spcPts val="300"/>
              </a:spcBef>
            </a:pPr>
            <a:r>
              <a:rPr sz="1050">
                <a:solidFill>
                  <a:srgbClr val="1A1A2E"/>
                </a:solidFill>
              </a:rPr>
              <a:t>▸  Newer investors starting with higher SIP amounts</a:t>
            </a:r>
          </a:p>
          <a:p>
            <a:pPr>
              <a:spcBef>
                <a:spcPts val="300"/>
              </a:spcBef>
            </a:pPr>
            <a:r>
              <a:rPr sz="1050">
                <a:solidFill>
                  <a:srgbClr val="1A1A2E"/>
                </a:solidFill>
              </a:rPr>
              <a:t>▸  ICICI Pru Bluechip most popular among 2024 cohort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411480"/>
          </a:xfrm>
          <a:prstGeom prst="rect">
            <a:avLst/>
          </a:prstGeom>
          <a:noFill/>
        </p:spPr>
        <p:txBody>
          <a:bodyPr wrap="square">
            <a:spAutoFit/>
          </a:bodyPr>
          <a:lstStyle/>
          <a:p>
            <a:pPr algn="l"/>
            <a:r>
              <a:rPr sz="2000" b="1" i="0">
                <a:solidFill>
                  <a:srgbClr val="FFFFFF"/>
                </a:solidFill>
              </a:rPr>
              <a:t>Advanced Analytics — Risk Metrics, Recommender &amp; HHI</a:t>
            </a:r>
          </a:p>
        </p:txBody>
      </p:sp>
      <p:sp>
        <p:nvSpPr>
          <p:cNvPr id="4" name="Rectangle 3"/>
          <p:cNvSpPr/>
          <p:nvPr/>
        </p:nvSpPr>
        <p:spPr>
          <a:xfrm>
            <a:off x="182880" y="658368"/>
            <a:ext cx="5806440" cy="2697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658368"/>
            <a:ext cx="5806440" cy="347472"/>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74320" y="713232"/>
            <a:ext cx="5577840" cy="274320"/>
          </a:xfrm>
          <a:prstGeom prst="rect">
            <a:avLst/>
          </a:prstGeom>
          <a:noFill/>
        </p:spPr>
        <p:txBody>
          <a:bodyPr wrap="square">
            <a:spAutoFit/>
          </a:bodyPr>
          <a:lstStyle/>
          <a:p>
            <a:pPr algn="l"/>
            <a:r>
              <a:rPr sz="1100" b="1" i="0">
                <a:solidFill>
                  <a:srgbClr val="FFFFFF"/>
                </a:solidFill>
              </a:rPr>
              <a:t>📉  Historical VaR (95%) &amp; CVaR</a:t>
            </a:r>
          </a:p>
        </p:txBody>
      </p:sp>
      <p:sp>
        <p:nvSpPr>
          <p:cNvPr id="7" name="TextBox 6"/>
          <p:cNvSpPr txBox="1"/>
          <p:nvPr/>
        </p:nvSpPr>
        <p:spPr>
          <a:xfrm>
            <a:off x="320040" y="1069848"/>
            <a:ext cx="5532120" cy="2194560"/>
          </a:xfrm>
          <a:prstGeom prst="rect">
            <a:avLst/>
          </a:prstGeom>
          <a:noFill/>
        </p:spPr>
        <p:txBody>
          <a:bodyPr wrap="square">
            <a:spAutoFit/>
          </a:bodyPr>
          <a:lstStyle/>
          <a:p>
            <a:pPr>
              <a:spcBef>
                <a:spcPts val="300"/>
              </a:spcBef>
            </a:pPr>
            <a:r>
              <a:rPr sz="1100">
                <a:solidFill>
                  <a:srgbClr val="1A1A2E"/>
                </a:solidFill>
              </a:rPr>
              <a:t>▸  Small Cap VaR: -2.69% daily (worst)</a:t>
            </a:r>
          </a:p>
          <a:p>
            <a:pPr>
              <a:spcBef>
                <a:spcPts val="300"/>
              </a:spcBef>
            </a:pPr>
            <a:r>
              <a:rPr sz="1100">
                <a:solidFill>
                  <a:srgbClr val="1A1A2E"/>
                </a:solidFill>
              </a:rPr>
              <a:t>▸  Liquid Fund VaR: -0.02% daily (safest)</a:t>
            </a:r>
          </a:p>
          <a:p>
            <a:pPr>
              <a:spcBef>
                <a:spcPts val="300"/>
              </a:spcBef>
            </a:pPr>
            <a:r>
              <a:rPr sz="1100">
                <a:solidFill>
                  <a:srgbClr val="1A1A2E"/>
                </a:solidFill>
              </a:rPr>
              <a:t>▸  CVaR always worse than VaR — captures tail risk</a:t>
            </a:r>
          </a:p>
          <a:p>
            <a:pPr>
              <a:spcBef>
                <a:spcPts val="300"/>
              </a:spcBef>
            </a:pPr>
            <a:r>
              <a:rPr sz="1100">
                <a:solidFill>
                  <a:srgbClr val="1A1A2E"/>
                </a:solidFill>
              </a:rPr>
              <a:t>▸  All 40 funds computed — var_cvar_report.csv</a:t>
            </a:r>
          </a:p>
        </p:txBody>
      </p:sp>
      <p:sp>
        <p:nvSpPr>
          <p:cNvPr id="8" name="Rectangle 7"/>
          <p:cNvSpPr/>
          <p:nvPr/>
        </p:nvSpPr>
        <p:spPr>
          <a:xfrm>
            <a:off x="6199632" y="658368"/>
            <a:ext cx="5806440" cy="2697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199632" y="658368"/>
            <a:ext cx="5806440" cy="347472"/>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1072" y="713232"/>
            <a:ext cx="5577840" cy="274320"/>
          </a:xfrm>
          <a:prstGeom prst="rect">
            <a:avLst/>
          </a:prstGeom>
          <a:noFill/>
        </p:spPr>
        <p:txBody>
          <a:bodyPr wrap="square">
            <a:spAutoFit/>
          </a:bodyPr>
          <a:lstStyle/>
          <a:p>
            <a:pPr algn="l"/>
            <a:r>
              <a:rPr sz="1100" b="1" i="0">
                <a:solidFill>
                  <a:srgbClr val="FFFFFF"/>
                </a:solidFill>
              </a:rPr>
              <a:t>📈  Rolling 90-Day Sharpe</a:t>
            </a:r>
          </a:p>
        </p:txBody>
      </p:sp>
      <p:sp>
        <p:nvSpPr>
          <p:cNvPr id="11" name="TextBox 10"/>
          <p:cNvSpPr txBox="1"/>
          <p:nvPr/>
        </p:nvSpPr>
        <p:spPr>
          <a:xfrm>
            <a:off x="6336792" y="1069848"/>
            <a:ext cx="5532120" cy="2194560"/>
          </a:xfrm>
          <a:prstGeom prst="rect">
            <a:avLst/>
          </a:prstGeom>
          <a:noFill/>
        </p:spPr>
        <p:txBody>
          <a:bodyPr wrap="square">
            <a:spAutoFit/>
          </a:bodyPr>
          <a:lstStyle/>
          <a:p>
            <a:pPr>
              <a:spcBef>
                <a:spcPts val="300"/>
              </a:spcBef>
            </a:pPr>
            <a:r>
              <a:rPr sz="1100">
                <a:solidFill>
                  <a:srgbClr val="1A1A2E"/>
                </a:solidFill>
              </a:rPr>
              <a:t>▸  Shows Sharpe evolution over time for 5 funds</a:t>
            </a:r>
          </a:p>
          <a:p>
            <a:pPr>
              <a:spcBef>
                <a:spcPts val="300"/>
              </a:spcBef>
            </a:pPr>
            <a:r>
              <a:rPr sz="1100">
                <a:solidFill>
                  <a:srgbClr val="1A1A2E"/>
                </a:solidFill>
              </a:rPr>
              <a:t>▸  2024 market correction visible as Sharpe dip</a:t>
            </a:r>
          </a:p>
          <a:p>
            <a:pPr>
              <a:spcBef>
                <a:spcPts val="300"/>
              </a:spcBef>
            </a:pPr>
            <a:r>
              <a:rPr sz="1100">
                <a:solidFill>
                  <a:srgbClr val="1A1A2E"/>
                </a:solidFill>
              </a:rPr>
              <a:t>▸  Recovery in H2 2024 confirms data validity</a:t>
            </a:r>
          </a:p>
          <a:p>
            <a:pPr>
              <a:spcBef>
                <a:spcPts val="300"/>
              </a:spcBef>
            </a:pPr>
            <a:r>
              <a:rPr sz="1100">
                <a:solidFill>
                  <a:srgbClr val="1A1A2E"/>
                </a:solidFill>
              </a:rPr>
              <a:t>▸  chart: 13_rolling_sharpe.png</a:t>
            </a:r>
          </a:p>
        </p:txBody>
      </p:sp>
      <p:sp>
        <p:nvSpPr>
          <p:cNvPr id="12" name="Rectangle 11"/>
          <p:cNvSpPr/>
          <p:nvPr/>
        </p:nvSpPr>
        <p:spPr>
          <a:xfrm>
            <a:off x="182880" y="3566160"/>
            <a:ext cx="5806440" cy="2697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3566160"/>
            <a:ext cx="5806440" cy="347472"/>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3621024"/>
            <a:ext cx="5577840" cy="274320"/>
          </a:xfrm>
          <a:prstGeom prst="rect">
            <a:avLst/>
          </a:prstGeom>
          <a:noFill/>
        </p:spPr>
        <p:txBody>
          <a:bodyPr wrap="square">
            <a:spAutoFit/>
          </a:bodyPr>
          <a:lstStyle/>
          <a:p>
            <a:pPr algn="l"/>
            <a:r>
              <a:rPr sz="1100" b="1" i="0">
                <a:solidFill>
                  <a:srgbClr val="FFFFFF"/>
                </a:solidFill>
              </a:rPr>
              <a:t>🤖  Fund Recommender (recommender.py)</a:t>
            </a:r>
          </a:p>
        </p:txBody>
      </p:sp>
      <p:sp>
        <p:nvSpPr>
          <p:cNvPr id="15" name="TextBox 14"/>
          <p:cNvSpPr txBox="1"/>
          <p:nvPr/>
        </p:nvSpPr>
        <p:spPr>
          <a:xfrm>
            <a:off x="320040" y="3977639"/>
            <a:ext cx="5532120" cy="2194560"/>
          </a:xfrm>
          <a:prstGeom prst="rect">
            <a:avLst/>
          </a:prstGeom>
          <a:noFill/>
        </p:spPr>
        <p:txBody>
          <a:bodyPr wrap="square">
            <a:spAutoFit/>
          </a:bodyPr>
          <a:lstStyle/>
          <a:p>
            <a:pPr>
              <a:spcBef>
                <a:spcPts val="300"/>
              </a:spcBef>
            </a:pPr>
            <a:r>
              <a:rPr sz="1100">
                <a:solidFill>
                  <a:srgbClr val="1A1A2E"/>
                </a:solidFill>
              </a:rPr>
              <a:t>▸  Low risk  → ICICI Pru Liquid (Sharpe 7.68)</a:t>
            </a:r>
          </a:p>
          <a:p>
            <a:pPr>
              <a:spcBef>
                <a:spcPts val="300"/>
              </a:spcBef>
            </a:pPr>
            <a:r>
              <a:rPr sz="1100">
                <a:solidFill>
                  <a:srgbClr val="1A1A2E"/>
                </a:solidFill>
              </a:rPr>
              <a:t>▸  Moderate → Mirae Asset Large Cap (Sharpe 1.06)</a:t>
            </a:r>
          </a:p>
          <a:p>
            <a:pPr>
              <a:spcBef>
                <a:spcPts val="300"/>
              </a:spcBef>
            </a:pPr>
            <a:r>
              <a:rPr sz="1100">
                <a:solidFill>
                  <a:srgbClr val="1A1A2E"/>
                </a:solidFill>
              </a:rPr>
              <a:t>▸  High risk → ICICI Pru Midcap (Sharpe 0.95)</a:t>
            </a:r>
          </a:p>
          <a:p>
            <a:pPr>
              <a:spcBef>
                <a:spcPts val="300"/>
              </a:spcBef>
            </a:pPr>
            <a:r>
              <a:rPr sz="1100">
                <a:solidFill>
                  <a:srgbClr val="1A1A2E"/>
                </a:solidFill>
              </a:rPr>
              <a:t>▸  CLI: python3 recommender.py --risk High</a:t>
            </a:r>
          </a:p>
        </p:txBody>
      </p:sp>
      <p:sp>
        <p:nvSpPr>
          <p:cNvPr id="16" name="Rectangle 15"/>
          <p:cNvSpPr/>
          <p:nvPr/>
        </p:nvSpPr>
        <p:spPr>
          <a:xfrm>
            <a:off x="6199632" y="3566160"/>
            <a:ext cx="5806440" cy="26974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9632" y="3566160"/>
            <a:ext cx="5806440" cy="347472"/>
          </a:xfrm>
          <a:prstGeom prst="rect">
            <a:avLst/>
          </a:prstGeom>
          <a:solidFill>
            <a:srgbClr val="0083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91072" y="3621024"/>
            <a:ext cx="5577840" cy="274320"/>
          </a:xfrm>
          <a:prstGeom prst="rect">
            <a:avLst/>
          </a:prstGeom>
          <a:noFill/>
        </p:spPr>
        <p:txBody>
          <a:bodyPr wrap="square">
            <a:spAutoFit/>
          </a:bodyPr>
          <a:lstStyle/>
          <a:p>
            <a:pPr algn="l"/>
            <a:r>
              <a:rPr sz="1100" b="1" i="0">
                <a:solidFill>
                  <a:srgbClr val="FFFFFF"/>
                </a:solidFill>
              </a:rPr>
              <a:t>🏭  Sector HHI Concentration</a:t>
            </a:r>
          </a:p>
        </p:txBody>
      </p:sp>
      <p:sp>
        <p:nvSpPr>
          <p:cNvPr id="19" name="TextBox 18"/>
          <p:cNvSpPr txBox="1"/>
          <p:nvPr/>
        </p:nvSpPr>
        <p:spPr>
          <a:xfrm>
            <a:off x="6336792" y="3977639"/>
            <a:ext cx="5532120" cy="2194560"/>
          </a:xfrm>
          <a:prstGeom prst="rect">
            <a:avLst/>
          </a:prstGeom>
          <a:noFill/>
        </p:spPr>
        <p:txBody>
          <a:bodyPr wrap="square">
            <a:spAutoFit/>
          </a:bodyPr>
          <a:lstStyle/>
          <a:p>
            <a:pPr>
              <a:spcBef>
                <a:spcPts val="300"/>
              </a:spcBef>
            </a:pPr>
            <a:r>
              <a:rPr sz="1100">
                <a:solidFill>
                  <a:srgbClr val="1A1A2E"/>
                </a:solidFill>
              </a:rPr>
              <a:t>▸  HHI = Σ(weight_i²) per fund portfolio</a:t>
            </a:r>
          </a:p>
          <a:p>
            <a:pPr>
              <a:spcBef>
                <a:spcPts val="300"/>
              </a:spcBef>
            </a:pPr>
            <a:r>
              <a:rPr sz="1100">
                <a:solidFill>
                  <a:srgbClr val="1A1A2E"/>
                </a:solidFill>
              </a:rPr>
              <a:t>▸  Axis Bluechip most concentrated (HHI: 2064, IT)</a:t>
            </a:r>
          </a:p>
          <a:p>
            <a:pPr>
              <a:spcBef>
                <a:spcPts val="300"/>
              </a:spcBef>
            </a:pPr>
            <a:r>
              <a:rPr sz="1100">
                <a:solidFill>
                  <a:srgbClr val="1A1A2E"/>
                </a:solidFill>
              </a:rPr>
              <a:t>▸  ABSL Small Cap 2nd (HHI: 2007, Pharma)</a:t>
            </a:r>
          </a:p>
          <a:p>
            <a:pPr>
              <a:spcBef>
                <a:spcPts val="300"/>
              </a:spcBef>
            </a:pPr>
            <a:r>
              <a:rPr sz="1100">
                <a:solidFill>
                  <a:srgbClr val="1A1A2E"/>
                </a:solidFill>
              </a:rPr>
              <a:t>▸  Mid Cap funds show lower HHI = better diversity</a:t>
            </a:r>
          </a:p>
        </p:txBody>
      </p:sp>
      <p:sp>
        <p:nvSpPr>
          <p:cNvPr id="20" name="Rectangle 19"/>
          <p:cNvSpPr/>
          <p:nvPr/>
        </p:nvSpPr>
        <p:spPr>
          <a:xfrm>
            <a:off x="182880" y="6400800"/>
            <a:ext cx="11823192" cy="347472"/>
          </a:xfrm>
          <a:prstGeom prst="rect">
            <a:avLst/>
          </a:prstGeom>
          <a:solidFill>
            <a:srgbClr val="E3F2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6400800"/>
            <a:ext cx="54864" cy="347472"/>
          </a:xfrm>
          <a:prstGeom prst="rect">
            <a:avLst/>
          </a:prstGeom>
          <a:solidFill>
            <a:srgbClr val="6A1B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0040" y="6446520"/>
            <a:ext cx="11503152" cy="256032"/>
          </a:xfrm>
          <a:prstGeom prst="rect">
            <a:avLst/>
          </a:prstGeom>
          <a:noFill/>
        </p:spPr>
        <p:txBody>
          <a:bodyPr wrap="square">
            <a:spAutoFit/>
          </a:bodyPr>
          <a:lstStyle/>
          <a:p>
            <a:pPr algn="l"/>
            <a:r>
              <a:rPr sz="900" b="0" i="0">
                <a:solidFill>
                  <a:srgbClr val="546E7A"/>
                </a:solidFill>
              </a:rPr>
              <a:t>Deliverables: Advanced_Analytics.ipynb  ·  var_cvar_report.csv  ·  cohort_analysis.csv  ·  sip_continuity.csv  ·  sector_hhi.csv  ·  recommender.py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C"/>
        </a:solidFill>
        <a:effectLst/>
      </p:bgPr>
    </p:bg>
    <p:spTree>
      <p:nvGrpSpPr>
        <p:cNvPr id="1" name=""/>
        <p:cNvGrpSpPr/>
        <p:nvPr/>
      </p:nvGrpSpPr>
      <p:grpSpPr/>
      <p:sp>
        <p:nvSpPr>
          <p:cNvPr id="2" name="Rectangle 1"/>
          <p:cNvSpPr/>
          <p:nvPr/>
        </p:nvSpPr>
        <p:spPr>
          <a:xfrm>
            <a:off x="0" y="0"/>
            <a:ext cx="12188952" cy="548640"/>
          </a:xfrm>
          <a:prstGeom prst="rect">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91440"/>
            <a:ext cx="10972800" cy="411480"/>
          </a:xfrm>
          <a:prstGeom prst="rect">
            <a:avLst/>
          </a:prstGeom>
          <a:noFill/>
        </p:spPr>
        <p:txBody>
          <a:bodyPr wrap="square">
            <a:spAutoFit/>
          </a:bodyPr>
          <a:lstStyle/>
          <a:p>
            <a:pPr algn="l"/>
            <a:r>
              <a:rPr sz="2200" b="1" i="0">
                <a:solidFill>
                  <a:srgbClr val="1A1A2E"/>
                </a:solidFill>
              </a:rPr>
              <a:t>10 Key Business Findings</a:t>
            </a:r>
          </a:p>
        </p:txBody>
      </p:sp>
      <p:sp>
        <p:nvSpPr>
          <p:cNvPr id="4" name="Rectangle 3"/>
          <p:cNvSpPr/>
          <p:nvPr/>
        </p:nvSpPr>
        <p:spPr>
          <a:xfrm>
            <a:off x="182880" y="658368"/>
            <a:ext cx="580644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82880" y="658368"/>
            <a:ext cx="411480" cy="10515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01168" y="932688"/>
            <a:ext cx="374904" cy="502920"/>
          </a:xfrm>
          <a:prstGeom prst="rect">
            <a:avLst/>
          </a:prstGeom>
          <a:noFill/>
        </p:spPr>
        <p:txBody>
          <a:bodyPr wrap="square">
            <a:spAutoFit/>
          </a:bodyPr>
          <a:lstStyle/>
          <a:p>
            <a:pPr algn="ctr"/>
            <a:r>
              <a:rPr sz="1400" b="1" i="0">
                <a:solidFill>
                  <a:srgbClr val="FFFFFF"/>
                </a:solidFill>
              </a:rPr>
              <a:t>01</a:t>
            </a:r>
          </a:p>
        </p:txBody>
      </p:sp>
      <p:sp>
        <p:nvSpPr>
          <p:cNvPr id="7" name="TextBox 6"/>
          <p:cNvSpPr txBox="1"/>
          <p:nvPr/>
        </p:nvSpPr>
        <p:spPr>
          <a:xfrm>
            <a:off x="685800" y="795528"/>
            <a:ext cx="5212080" cy="822960"/>
          </a:xfrm>
          <a:prstGeom prst="rect">
            <a:avLst/>
          </a:prstGeom>
          <a:noFill/>
        </p:spPr>
        <p:txBody>
          <a:bodyPr wrap="square">
            <a:spAutoFit/>
          </a:bodyPr>
          <a:lstStyle/>
          <a:p>
            <a:pPr algn="l"/>
            <a:r>
              <a:rPr sz="1050" b="0" i="0">
                <a:solidFill>
                  <a:srgbClr val="1A1A2E"/>
                </a:solidFill>
              </a:rPr>
              <a:t>SIP inflows grew 169% in 4 years — ₹11,517 Cr (2022) to ₹31,002 Cr (Dec 2025 ATH)</a:t>
            </a:r>
          </a:p>
        </p:txBody>
      </p:sp>
      <p:sp>
        <p:nvSpPr>
          <p:cNvPr id="8" name="Rectangle 7"/>
          <p:cNvSpPr/>
          <p:nvPr/>
        </p:nvSpPr>
        <p:spPr>
          <a:xfrm>
            <a:off x="182880" y="1847088"/>
            <a:ext cx="580644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82880" y="1847088"/>
            <a:ext cx="411480" cy="105156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01168" y="2121408"/>
            <a:ext cx="374904" cy="502920"/>
          </a:xfrm>
          <a:prstGeom prst="rect">
            <a:avLst/>
          </a:prstGeom>
          <a:noFill/>
        </p:spPr>
        <p:txBody>
          <a:bodyPr wrap="square">
            <a:spAutoFit/>
          </a:bodyPr>
          <a:lstStyle/>
          <a:p>
            <a:pPr algn="ctr"/>
            <a:r>
              <a:rPr sz="1400" b="1" i="0">
                <a:solidFill>
                  <a:srgbClr val="FFFFFF"/>
                </a:solidFill>
              </a:rPr>
              <a:t>02</a:t>
            </a:r>
          </a:p>
        </p:txBody>
      </p:sp>
      <p:sp>
        <p:nvSpPr>
          <p:cNvPr id="11" name="TextBox 10"/>
          <p:cNvSpPr txBox="1"/>
          <p:nvPr/>
        </p:nvSpPr>
        <p:spPr>
          <a:xfrm>
            <a:off x="685800" y="1984248"/>
            <a:ext cx="5212080" cy="822960"/>
          </a:xfrm>
          <a:prstGeom prst="rect">
            <a:avLst/>
          </a:prstGeom>
          <a:noFill/>
        </p:spPr>
        <p:txBody>
          <a:bodyPr wrap="square">
            <a:spAutoFit/>
          </a:bodyPr>
          <a:lstStyle/>
          <a:p>
            <a:pPr algn="l"/>
            <a:r>
              <a:rPr sz="1050" b="0" i="0">
                <a:solidFill>
                  <a:srgbClr val="1A1A2E"/>
                </a:solidFill>
              </a:rPr>
              <a:t>SBI MF leads AUM at ₹12.5L Cr — 2× from 2022; top 3 AMCs control 42% of tracked AUM</a:t>
            </a:r>
          </a:p>
        </p:txBody>
      </p:sp>
      <p:sp>
        <p:nvSpPr>
          <p:cNvPr id="12" name="Rectangle 11"/>
          <p:cNvSpPr/>
          <p:nvPr/>
        </p:nvSpPr>
        <p:spPr>
          <a:xfrm>
            <a:off x="182880" y="3035808"/>
            <a:ext cx="580644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82880" y="3035808"/>
            <a:ext cx="411480" cy="105156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01168" y="3310128"/>
            <a:ext cx="374904" cy="502920"/>
          </a:xfrm>
          <a:prstGeom prst="rect">
            <a:avLst/>
          </a:prstGeom>
          <a:noFill/>
        </p:spPr>
        <p:txBody>
          <a:bodyPr wrap="square">
            <a:spAutoFit/>
          </a:bodyPr>
          <a:lstStyle/>
          <a:p>
            <a:pPr algn="ctr"/>
            <a:r>
              <a:rPr sz="1400" b="1" i="0">
                <a:solidFill>
                  <a:srgbClr val="FFFFFF"/>
                </a:solidFill>
              </a:rPr>
              <a:t>03</a:t>
            </a:r>
          </a:p>
        </p:txBody>
      </p:sp>
      <p:sp>
        <p:nvSpPr>
          <p:cNvPr id="15" name="TextBox 14"/>
          <p:cNvSpPr txBox="1"/>
          <p:nvPr/>
        </p:nvSpPr>
        <p:spPr>
          <a:xfrm>
            <a:off x="685800" y="3172968"/>
            <a:ext cx="5212080" cy="822960"/>
          </a:xfrm>
          <a:prstGeom prst="rect">
            <a:avLst/>
          </a:prstGeom>
          <a:noFill/>
        </p:spPr>
        <p:txBody>
          <a:bodyPr wrap="square">
            <a:spAutoFit/>
          </a:bodyPr>
          <a:lstStyle/>
          <a:p>
            <a:pPr algn="l"/>
            <a:r>
              <a:rPr sz="1050" b="0" i="0">
                <a:solidFill>
                  <a:srgbClr val="1A1A2E"/>
                </a:solidFill>
              </a:rPr>
              <a:t>Small Cap funds: highest 3yr CAGR (20–23%) but worst VaR (-2.69%) and drawdown (-52%)</a:t>
            </a:r>
          </a:p>
        </p:txBody>
      </p:sp>
      <p:sp>
        <p:nvSpPr>
          <p:cNvPr id="16" name="Rectangle 15"/>
          <p:cNvSpPr/>
          <p:nvPr/>
        </p:nvSpPr>
        <p:spPr>
          <a:xfrm>
            <a:off x="182880" y="4224528"/>
            <a:ext cx="580644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82880" y="4224528"/>
            <a:ext cx="411480" cy="105156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1168" y="4498848"/>
            <a:ext cx="374904" cy="502920"/>
          </a:xfrm>
          <a:prstGeom prst="rect">
            <a:avLst/>
          </a:prstGeom>
          <a:noFill/>
        </p:spPr>
        <p:txBody>
          <a:bodyPr wrap="square">
            <a:spAutoFit/>
          </a:bodyPr>
          <a:lstStyle/>
          <a:p>
            <a:pPr algn="ctr"/>
            <a:r>
              <a:rPr sz="1400" b="1" i="0">
                <a:solidFill>
                  <a:srgbClr val="FFFFFF"/>
                </a:solidFill>
              </a:rPr>
              <a:t>04</a:t>
            </a:r>
          </a:p>
        </p:txBody>
      </p:sp>
      <p:sp>
        <p:nvSpPr>
          <p:cNvPr id="19" name="TextBox 18"/>
          <p:cNvSpPr txBox="1"/>
          <p:nvPr/>
        </p:nvSpPr>
        <p:spPr>
          <a:xfrm>
            <a:off x="685800" y="4361688"/>
            <a:ext cx="5212080" cy="822960"/>
          </a:xfrm>
          <a:prstGeom prst="rect">
            <a:avLst/>
          </a:prstGeom>
          <a:noFill/>
        </p:spPr>
        <p:txBody>
          <a:bodyPr wrap="square">
            <a:spAutoFit/>
          </a:bodyPr>
          <a:lstStyle/>
          <a:p>
            <a:pPr algn="l"/>
            <a:r>
              <a:rPr sz="1050" b="0" i="0">
                <a:solidFill>
                  <a:srgbClr val="1A1A2E"/>
                </a:solidFill>
              </a:rPr>
              <a:t>ICICI Pru Midcap scored 100/100 on composite scorecard across 5 weighted metrics</a:t>
            </a:r>
          </a:p>
        </p:txBody>
      </p:sp>
      <p:sp>
        <p:nvSpPr>
          <p:cNvPr id="20" name="Rectangle 19"/>
          <p:cNvSpPr/>
          <p:nvPr/>
        </p:nvSpPr>
        <p:spPr>
          <a:xfrm>
            <a:off x="182880" y="5413248"/>
            <a:ext cx="580644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82880" y="5413248"/>
            <a:ext cx="411480" cy="10515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01168" y="5687568"/>
            <a:ext cx="374904" cy="502920"/>
          </a:xfrm>
          <a:prstGeom prst="rect">
            <a:avLst/>
          </a:prstGeom>
          <a:noFill/>
        </p:spPr>
        <p:txBody>
          <a:bodyPr wrap="square">
            <a:spAutoFit/>
          </a:bodyPr>
          <a:lstStyle/>
          <a:p>
            <a:pPr algn="ctr"/>
            <a:r>
              <a:rPr sz="1400" b="1" i="0">
                <a:solidFill>
                  <a:srgbClr val="FFFFFF"/>
                </a:solidFill>
              </a:rPr>
              <a:t>05</a:t>
            </a:r>
          </a:p>
        </p:txBody>
      </p:sp>
      <p:sp>
        <p:nvSpPr>
          <p:cNvPr id="23" name="TextBox 22"/>
          <p:cNvSpPr txBox="1"/>
          <p:nvPr/>
        </p:nvSpPr>
        <p:spPr>
          <a:xfrm>
            <a:off x="685800" y="5550408"/>
            <a:ext cx="5212080" cy="822960"/>
          </a:xfrm>
          <a:prstGeom prst="rect">
            <a:avLst/>
          </a:prstGeom>
          <a:noFill/>
        </p:spPr>
        <p:txBody>
          <a:bodyPr wrap="square">
            <a:spAutoFit/>
          </a:bodyPr>
          <a:lstStyle/>
          <a:p>
            <a:pPr algn="l"/>
            <a:r>
              <a:rPr sz="1050" b="0" i="0">
                <a:solidFill>
                  <a:srgbClr val="1A1A2E"/>
                </a:solidFill>
              </a:rPr>
              <a:t>MF folios doubled — 13.26 Cr → 26.12 Cr — confirming mass retail equity adoption</a:t>
            </a:r>
          </a:p>
        </p:txBody>
      </p:sp>
      <p:sp>
        <p:nvSpPr>
          <p:cNvPr id="24" name="Rectangle 23"/>
          <p:cNvSpPr/>
          <p:nvPr/>
        </p:nvSpPr>
        <p:spPr>
          <a:xfrm>
            <a:off x="6263640" y="658368"/>
            <a:ext cx="580644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63640" y="658368"/>
            <a:ext cx="411480" cy="105156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81928" y="932688"/>
            <a:ext cx="374904" cy="502920"/>
          </a:xfrm>
          <a:prstGeom prst="rect">
            <a:avLst/>
          </a:prstGeom>
          <a:noFill/>
        </p:spPr>
        <p:txBody>
          <a:bodyPr wrap="square">
            <a:spAutoFit/>
          </a:bodyPr>
          <a:lstStyle/>
          <a:p>
            <a:pPr algn="ctr"/>
            <a:r>
              <a:rPr sz="1400" b="1" i="0">
                <a:solidFill>
                  <a:srgbClr val="FFFFFF"/>
                </a:solidFill>
              </a:rPr>
              <a:t>06</a:t>
            </a:r>
          </a:p>
        </p:txBody>
      </p:sp>
      <p:sp>
        <p:nvSpPr>
          <p:cNvPr id="27" name="TextBox 26"/>
          <p:cNvSpPr txBox="1"/>
          <p:nvPr/>
        </p:nvSpPr>
        <p:spPr>
          <a:xfrm>
            <a:off x="6766560" y="795528"/>
            <a:ext cx="5212080" cy="822960"/>
          </a:xfrm>
          <a:prstGeom prst="rect">
            <a:avLst/>
          </a:prstGeom>
          <a:noFill/>
        </p:spPr>
        <p:txBody>
          <a:bodyPr wrap="square">
            <a:spAutoFit/>
          </a:bodyPr>
          <a:lstStyle/>
          <a:p>
            <a:pPr algn="l"/>
            <a:r>
              <a:rPr sz="1050" b="0" i="0">
                <a:solidFill>
                  <a:srgbClr val="1A1A2E"/>
                </a:solidFill>
              </a:rPr>
              <a:t>B30 cities: 34.1% investment share and growing 2.5× faster than T30 metros</a:t>
            </a:r>
          </a:p>
        </p:txBody>
      </p:sp>
      <p:sp>
        <p:nvSpPr>
          <p:cNvPr id="28" name="Rectangle 27"/>
          <p:cNvSpPr/>
          <p:nvPr/>
        </p:nvSpPr>
        <p:spPr>
          <a:xfrm>
            <a:off x="6263640" y="1847088"/>
            <a:ext cx="580644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263640" y="1847088"/>
            <a:ext cx="411480" cy="1051560"/>
          </a:xfrm>
          <a:prstGeom prst="rect">
            <a:avLst/>
          </a:prstGeom>
          <a:solidFill>
            <a:srgbClr val="0D21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81928" y="2121408"/>
            <a:ext cx="374904" cy="502920"/>
          </a:xfrm>
          <a:prstGeom prst="rect">
            <a:avLst/>
          </a:prstGeom>
          <a:noFill/>
        </p:spPr>
        <p:txBody>
          <a:bodyPr wrap="square">
            <a:spAutoFit/>
          </a:bodyPr>
          <a:lstStyle/>
          <a:p>
            <a:pPr algn="ctr"/>
            <a:r>
              <a:rPr sz="1400" b="1" i="0">
                <a:solidFill>
                  <a:srgbClr val="FFFFFF"/>
                </a:solidFill>
              </a:rPr>
              <a:t>07</a:t>
            </a:r>
          </a:p>
        </p:txBody>
      </p:sp>
      <p:sp>
        <p:nvSpPr>
          <p:cNvPr id="31" name="TextBox 30"/>
          <p:cNvSpPr txBox="1"/>
          <p:nvPr/>
        </p:nvSpPr>
        <p:spPr>
          <a:xfrm>
            <a:off x="6766560" y="1984248"/>
            <a:ext cx="5212080" cy="822960"/>
          </a:xfrm>
          <a:prstGeom prst="rect">
            <a:avLst/>
          </a:prstGeom>
          <a:noFill/>
        </p:spPr>
        <p:txBody>
          <a:bodyPr wrap="square">
            <a:spAutoFit/>
          </a:bodyPr>
          <a:lstStyle/>
          <a:p>
            <a:pPr algn="l"/>
            <a:r>
              <a:rPr sz="1050" b="0" i="0">
                <a:solidFill>
                  <a:srgbClr val="1A1A2E"/>
                </a:solidFill>
              </a:rPr>
              <a:t>56+ investors have highest avg SIP (₹11,575/month) — retirement planning effect</a:t>
            </a:r>
          </a:p>
        </p:txBody>
      </p:sp>
      <p:sp>
        <p:nvSpPr>
          <p:cNvPr id="32" name="Rectangle 31"/>
          <p:cNvSpPr/>
          <p:nvPr/>
        </p:nvSpPr>
        <p:spPr>
          <a:xfrm>
            <a:off x="6263640" y="3035808"/>
            <a:ext cx="580644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63640" y="3035808"/>
            <a:ext cx="411480" cy="105156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81928" y="3310128"/>
            <a:ext cx="374904" cy="502920"/>
          </a:xfrm>
          <a:prstGeom prst="rect">
            <a:avLst/>
          </a:prstGeom>
          <a:noFill/>
        </p:spPr>
        <p:txBody>
          <a:bodyPr wrap="square">
            <a:spAutoFit/>
          </a:bodyPr>
          <a:lstStyle/>
          <a:p>
            <a:pPr algn="ctr"/>
            <a:r>
              <a:rPr sz="1400" b="1" i="0">
                <a:solidFill>
                  <a:srgbClr val="FFFFFF"/>
                </a:solidFill>
              </a:rPr>
              <a:t>08</a:t>
            </a:r>
          </a:p>
        </p:txBody>
      </p:sp>
      <p:sp>
        <p:nvSpPr>
          <p:cNvPr id="35" name="TextBox 34"/>
          <p:cNvSpPr txBox="1"/>
          <p:nvPr/>
        </p:nvSpPr>
        <p:spPr>
          <a:xfrm>
            <a:off x="6766560" y="3172968"/>
            <a:ext cx="5212080" cy="822960"/>
          </a:xfrm>
          <a:prstGeom prst="rect">
            <a:avLst/>
          </a:prstGeom>
          <a:noFill/>
        </p:spPr>
        <p:txBody>
          <a:bodyPr wrap="square">
            <a:spAutoFit/>
          </a:bodyPr>
          <a:lstStyle/>
          <a:p>
            <a:pPr algn="l"/>
            <a:r>
              <a:rPr sz="1050" b="0" i="0">
                <a:solidFill>
                  <a:srgbClr val="1A1A2E"/>
                </a:solidFill>
              </a:rPr>
              <a:t>Large Cap fund returns &gt;0.85 correlated — within-category diversification is limited</a:t>
            </a:r>
          </a:p>
        </p:txBody>
      </p:sp>
      <p:sp>
        <p:nvSpPr>
          <p:cNvPr id="36" name="Rectangle 35"/>
          <p:cNvSpPr/>
          <p:nvPr/>
        </p:nvSpPr>
        <p:spPr>
          <a:xfrm>
            <a:off x="6263640" y="4224528"/>
            <a:ext cx="580644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63640" y="4224528"/>
            <a:ext cx="411480" cy="1051560"/>
          </a:xfrm>
          <a:prstGeom prst="rect">
            <a:avLst/>
          </a:prstGeom>
          <a:solidFill>
            <a:srgbClr val="C628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81928" y="4498848"/>
            <a:ext cx="374904" cy="502920"/>
          </a:xfrm>
          <a:prstGeom prst="rect">
            <a:avLst/>
          </a:prstGeom>
          <a:noFill/>
        </p:spPr>
        <p:txBody>
          <a:bodyPr wrap="square">
            <a:spAutoFit/>
          </a:bodyPr>
          <a:lstStyle/>
          <a:p>
            <a:pPr algn="ctr"/>
            <a:r>
              <a:rPr sz="1400" b="1" i="0">
                <a:solidFill>
                  <a:srgbClr val="FFFFFF"/>
                </a:solidFill>
              </a:rPr>
              <a:t>09</a:t>
            </a:r>
          </a:p>
        </p:txBody>
      </p:sp>
      <p:sp>
        <p:nvSpPr>
          <p:cNvPr id="39" name="TextBox 38"/>
          <p:cNvSpPr txBox="1"/>
          <p:nvPr/>
        </p:nvSpPr>
        <p:spPr>
          <a:xfrm>
            <a:off x="6766560" y="4361688"/>
            <a:ext cx="5212080" cy="822960"/>
          </a:xfrm>
          <a:prstGeom prst="rect">
            <a:avLst/>
          </a:prstGeom>
          <a:noFill/>
        </p:spPr>
        <p:txBody>
          <a:bodyPr wrap="square">
            <a:spAutoFit/>
          </a:bodyPr>
          <a:lstStyle/>
          <a:p>
            <a:pPr algn="l"/>
            <a:r>
              <a:rPr sz="1050" b="0" i="0">
                <a:solidFill>
                  <a:srgbClr val="1A1A2E"/>
                </a:solidFill>
              </a:rPr>
              <a:t>Axis Bluechip most portfolio-concentrated (HHI 2064) — heavy IT sector exposure</a:t>
            </a:r>
          </a:p>
        </p:txBody>
      </p:sp>
      <p:sp>
        <p:nvSpPr>
          <p:cNvPr id="40" name="Rectangle 39"/>
          <p:cNvSpPr/>
          <p:nvPr/>
        </p:nvSpPr>
        <p:spPr>
          <a:xfrm>
            <a:off x="6263640" y="5413248"/>
            <a:ext cx="5806440" cy="10515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263640" y="5413248"/>
            <a:ext cx="411480" cy="1051560"/>
          </a:xfrm>
          <a:prstGeom prst="rect">
            <a:avLst/>
          </a:prstGeom>
          <a:solidFill>
            <a:srgbClr val="00897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81928" y="5687568"/>
            <a:ext cx="374904" cy="502920"/>
          </a:xfrm>
          <a:prstGeom prst="rect">
            <a:avLst/>
          </a:prstGeom>
          <a:noFill/>
        </p:spPr>
        <p:txBody>
          <a:bodyPr wrap="square">
            <a:spAutoFit/>
          </a:bodyPr>
          <a:lstStyle/>
          <a:p>
            <a:pPr algn="ctr"/>
            <a:r>
              <a:rPr sz="1400" b="1" i="0">
                <a:solidFill>
                  <a:srgbClr val="FFFFFF"/>
                </a:solidFill>
              </a:rPr>
              <a:t>10</a:t>
            </a:r>
          </a:p>
        </p:txBody>
      </p:sp>
      <p:sp>
        <p:nvSpPr>
          <p:cNvPr id="43" name="TextBox 42"/>
          <p:cNvSpPr txBox="1"/>
          <p:nvPr/>
        </p:nvSpPr>
        <p:spPr>
          <a:xfrm>
            <a:off x="6766560" y="5550408"/>
            <a:ext cx="5212080" cy="822960"/>
          </a:xfrm>
          <a:prstGeom prst="rect">
            <a:avLst/>
          </a:prstGeom>
          <a:noFill/>
        </p:spPr>
        <p:txBody>
          <a:bodyPr wrap="square">
            <a:spAutoFit/>
          </a:bodyPr>
          <a:lstStyle/>
          <a:p>
            <a:pPr algn="l"/>
            <a:r>
              <a:rPr sz="1050" b="0" i="0">
                <a:solidFill>
                  <a:srgbClr val="1A1A2E"/>
                </a:solidFill>
              </a:rPr>
              <a:t>Direct plans: avg 0.7–0.9% lower expense ratio — compounds to significant advantage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D2137"/>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F9A82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914400"/>
            <a:ext cx="10360152" cy="1005840"/>
          </a:xfrm>
          <a:prstGeom prst="rect">
            <a:avLst/>
          </a:prstGeom>
          <a:noFill/>
        </p:spPr>
        <p:txBody>
          <a:bodyPr wrap="square">
            <a:spAutoFit/>
          </a:bodyPr>
          <a:lstStyle/>
          <a:p>
            <a:pPr algn="ctr"/>
            <a:r>
              <a:rPr sz="5200" b="1" i="0">
                <a:solidFill>
                  <a:srgbClr val="FFFFFF"/>
                </a:solidFill>
              </a:rPr>
              <a:t>Thank You</a:t>
            </a:r>
          </a:p>
        </p:txBody>
      </p:sp>
      <p:sp>
        <p:nvSpPr>
          <p:cNvPr id="5" name="TextBox 4"/>
          <p:cNvSpPr txBox="1"/>
          <p:nvPr/>
        </p:nvSpPr>
        <p:spPr>
          <a:xfrm>
            <a:off x="914400" y="2103120"/>
            <a:ext cx="10360152" cy="548640"/>
          </a:xfrm>
          <a:prstGeom prst="rect">
            <a:avLst/>
          </a:prstGeom>
          <a:noFill/>
        </p:spPr>
        <p:txBody>
          <a:bodyPr wrap="square">
            <a:spAutoFit/>
          </a:bodyPr>
          <a:lstStyle/>
          <a:p>
            <a:pPr algn="ctr"/>
            <a:r>
              <a:rPr sz="1800" b="0" i="0">
                <a:solidFill>
                  <a:srgbClr val="F9A825"/>
                </a:solidFill>
              </a:rPr>
              <a:t>Bluestock MF Analytics Platform</a:t>
            </a:r>
          </a:p>
        </p:txBody>
      </p:sp>
      <p:sp>
        <p:nvSpPr>
          <p:cNvPr id="6" name="Rectangle 5"/>
          <p:cNvSpPr/>
          <p:nvPr/>
        </p:nvSpPr>
        <p:spPr>
          <a:xfrm>
            <a:off x="3200400" y="2788920"/>
            <a:ext cx="5788152" cy="45720"/>
          </a:xfrm>
          <a:prstGeom prst="rect">
            <a:avLst/>
          </a:prstGeom>
          <a:solidFill>
            <a:srgbClr val="1565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971800"/>
            <a:ext cx="10360152" cy="411480"/>
          </a:xfrm>
          <a:prstGeom prst="rect">
            <a:avLst/>
          </a:prstGeom>
          <a:noFill/>
        </p:spPr>
        <p:txBody>
          <a:bodyPr wrap="square">
            <a:spAutoFit/>
          </a:bodyPr>
          <a:lstStyle/>
          <a:p>
            <a:pPr algn="ctr"/>
            <a:r>
              <a:rPr sz="1300" b="0" i="0">
                <a:solidFill>
                  <a:srgbClr val="CADCFC"/>
                </a:solidFill>
              </a:rPr>
              <a:t>Riddhima Raj  ·  Data Analyst Intern  ·  Cohort 2025</a:t>
            </a:r>
          </a:p>
        </p:txBody>
      </p:sp>
      <p:sp>
        <p:nvSpPr>
          <p:cNvPr id="8" name="TextBox 7"/>
          <p:cNvSpPr txBox="1"/>
          <p:nvPr/>
        </p:nvSpPr>
        <p:spPr>
          <a:xfrm>
            <a:off x="914400" y="3429000"/>
            <a:ext cx="10360152" cy="365760"/>
          </a:xfrm>
          <a:prstGeom prst="rect">
            <a:avLst/>
          </a:prstGeom>
          <a:noFill/>
        </p:spPr>
        <p:txBody>
          <a:bodyPr wrap="square">
            <a:spAutoFit/>
          </a:bodyPr>
          <a:lstStyle/>
          <a:p>
            <a:pPr algn="ctr"/>
            <a:r>
              <a:rPr sz="1100" b="0" i="0">
                <a:solidFill>
                  <a:srgbClr val="546E7A"/>
                </a:solidFill>
              </a:rPr>
              <a:t>B.Tech CSE (IoT &amp; Intelligent Systems)  ·  Manipal University Jaipur  ·  CGPA 9.10</a:t>
            </a:r>
          </a:p>
        </p:txBody>
      </p:sp>
      <p:sp>
        <p:nvSpPr>
          <p:cNvPr id="9" name="TextBox 8"/>
          <p:cNvSpPr txBox="1"/>
          <p:nvPr/>
        </p:nvSpPr>
        <p:spPr>
          <a:xfrm>
            <a:off x="914400" y="3931920"/>
            <a:ext cx="10360152" cy="365760"/>
          </a:xfrm>
          <a:prstGeom prst="rect">
            <a:avLst/>
          </a:prstGeom>
          <a:noFill/>
        </p:spPr>
        <p:txBody>
          <a:bodyPr wrap="square">
            <a:spAutoFit/>
          </a:bodyPr>
          <a:lstStyle/>
          <a:p>
            <a:pPr algn="ctr"/>
            <a:r>
              <a:rPr sz="1200" b="0" i="0">
                <a:solidFill>
                  <a:srgbClr val="F9A825"/>
                </a:solidFill>
              </a:rPr>
              <a:t>🔗  github.com/riddhima16/bluestock-mf-capstone</a:t>
            </a:r>
          </a:p>
        </p:txBody>
      </p:sp>
      <p:sp>
        <p:nvSpPr>
          <p:cNvPr id="10" name="Rectangle 9"/>
          <p:cNvSpPr/>
          <p:nvPr/>
        </p:nvSpPr>
        <p:spPr>
          <a:xfrm>
            <a:off x="562355" y="4754880"/>
            <a:ext cx="1417320" cy="3657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8075" y="4791456"/>
            <a:ext cx="1325880" cy="292608"/>
          </a:xfrm>
          <a:prstGeom prst="rect">
            <a:avLst/>
          </a:prstGeom>
          <a:noFill/>
        </p:spPr>
        <p:txBody>
          <a:bodyPr wrap="square">
            <a:spAutoFit/>
          </a:bodyPr>
          <a:lstStyle/>
          <a:p>
            <a:pPr algn="ctr"/>
            <a:r>
              <a:rPr sz="900" b="1" i="0">
                <a:solidFill>
                  <a:srgbClr val="FFFFFF"/>
                </a:solidFill>
              </a:rPr>
              <a:t>Python 3.11</a:t>
            </a:r>
          </a:p>
        </p:txBody>
      </p:sp>
      <p:sp>
        <p:nvSpPr>
          <p:cNvPr id="12" name="Rectangle 11"/>
          <p:cNvSpPr/>
          <p:nvPr/>
        </p:nvSpPr>
        <p:spPr>
          <a:xfrm>
            <a:off x="2162555" y="4754880"/>
            <a:ext cx="1417320" cy="3657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208275" y="4791456"/>
            <a:ext cx="1325880" cy="292608"/>
          </a:xfrm>
          <a:prstGeom prst="rect">
            <a:avLst/>
          </a:prstGeom>
          <a:noFill/>
        </p:spPr>
        <p:txBody>
          <a:bodyPr wrap="square">
            <a:spAutoFit/>
          </a:bodyPr>
          <a:lstStyle/>
          <a:p>
            <a:pPr algn="ctr"/>
            <a:r>
              <a:rPr sz="900" b="1" i="0">
                <a:solidFill>
                  <a:srgbClr val="FFFFFF"/>
                </a:solidFill>
              </a:rPr>
              <a:t>Pandas</a:t>
            </a:r>
          </a:p>
        </p:txBody>
      </p:sp>
      <p:sp>
        <p:nvSpPr>
          <p:cNvPr id="14" name="Rectangle 13"/>
          <p:cNvSpPr/>
          <p:nvPr/>
        </p:nvSpPr>
        <p:spPr>
          <a:xfrm>
            <a:off x="3762755" y="4754880"/>
            <a:ext cx="1417320" cy="3657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808475" y="4791456"/>
            <a:ext cx="1325880" cy="292608"/>
          </a:xfrm>
          <a:prstGeom prst="rect">
            <a:avLst/>
          </a:prstGeom>
          <a:noFill/>
        </p:spPr>
        <p:txBody>
          <a:bodyPr wrap="square">
            <a:spAutoFit/>
          </a:bodyPr>
          <a:lstStyle/>
          <a:p>
            <a:pPr algn="ctr"/>
            <a:r>
              <a:rPr sz="900" b="1" i="0">
                <a:solidFill>
                  <a:srgbClr val="FFFFFF"/>
                </a:solidFill>
              </a:rPr>
              <a:t>SQLite</a:t>
            </a:r>
          </a:p>
        </p:txBody>
      </p:sp>
      <p:sp>
        <p:nvSpPr>
          <p:cNvPr id="16" name="Rectangle 15"/>
          <p:cNvSpPr/>
          <p:nvPr/>
        </p:nvSpPr>
        <p:spPr>
          <a:xfrm>
            <a:off x="5362955" y="4754880"/>
            <a:ext cx="1417320" cy="3657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408675" y="4791456"/>
            <a:ext cx="1325880" cy="292608"/>
          </a:xfrm>
          <a:prstGeom prst="rect">
            <a:avLst/>
          </a:prstGeom>
          <a:noFill/>
        </p:spPr>
        <p:txBody>
          <a:bodyPr wrap="square">
            <a:spAutoFit/>
          </a:bodyPr>
          <a:lstStyle/>
          <a:p>
            <a:pPr algn="ctr"/>
            <a:r>
              <a:rPr sz="900" b="1" i="0">
                <a:solidFill>
                  <a:srgbClr val="FFFFFF"/>
                </a:solidFill>
              </a:rPr>
              <a:t>Plotly</a:t>
            </a:r>
          </a:p>
        </p:txBody>
      </p:sp>
      <p:sp>
        <p:nvSpPr>
          <p:cNvPr id="18" name="Rectangle 17"/>
          <p:cNvSpPr/>
          <p:nvPr/>
        </p:nvSpPr>
        <p:spPr>
          <a:xfrm>
            <a:off x="6963155" y="4754880"/>
            <a:ext cx="1417320" cy="3657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008875" y="4791456"/>
            <a:ext cx="1325880" cy="292608"/>
          </a:xfrm>
          <a:prstGeom prst="rect">
            <a:avLst/>
          </a:prstGeom>
          <a:noFill/>
        </p:spPr>
        <p:txBody>
          <a:bodyPr wrap="square">
            <a:spAutoFit/>
          </a:bodyPr>
          <a:lstStyle/>
          <a:p>
            <a:pPr algn="ctr"/>
            <a:r>
              <a:rPr sz="900" b="1" i="0">
                <a:solidFill>
                  <a:srgbClr val="FFFFFF"/>
                </a:solidFill>
              </a:rPr>
              <a:t>Streamlit</a:t>
            </a:r>
          </a:p>
        </p:txBody>
      </p:sp>
      <p:sp>
        <p:nvSpPr>
          <p:cNvPr id="20" name="Rectangle 19"/>
          <p:cNvSpPr/>
          <p:nvPr/>
        </p:nvSpPr>
        <p:spPr>
          <a:xfrm>
            <a:off x="8563355" y="4754880"/>
            <a:ext cx="1417320" cy="3657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09076" y="4791456"/>
            <a:ext cx="1325880" cy="292608"/>
          </a:xfrm>
          <a:prstGeom prst="rect">
            <a:avLst/>
          </a:prstGeom>
          <a:noFill/>
        </p:spPr>
        <p:txBody>
          <a:bodyPr wrap="square">
            <a:spAutoFit/>
          </a:bodyPr>
          <a:lstStyle/>
          <a:p>
            <a:pPr algn="ctr"/>
            <a:r>
              <a:rPr sz="900" b="1" i="0">
                <a:solidFill>
                  <a:srgbClr val="FFFFFF"/>
                </a:solidFill>
              </a:rPr>
              <a:t>Scipy</a:t>
            </a:r>
          </a:p>
        </p:txBody>
      </p:sp>
      <p:sp>
        <p:nvSpPr>
          <p:cNvPr id="22" name="Rectangle 21"/>
          <p:cNvSpPr/>
          <p:nvPr/>
        </p:nvSpPr>
        <p:spPr>
          <a:xfrm>
            <a:off x="10163555" y="4754880"/>
            <a:ext cx="1417320" cy="365760"/>
          </a:xfrm>
          <a:prstGeom prst="rect">
            <a:avLst/>
          </a:prstGeom>
          <a:solidFill>
            <a:srgbClr val="1976D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209276" y="4791456"/>
            <a:ext cx="1325880" cy="292608"/>
          </a:xfrm>
          <a:prstGeom prst="rect">
            <a:avLst/>
          </a:prstGeom>
          <a:noFill/>
        </p:spPr>
        <p:txBody>
          <a:bodyPr wrap="square">
            <a:spAutoFit/>
          </a:bodyPr>
          <a:lstStyle/>
          <a:p>
            <a:pPr algn="ctr"/>
            <a:r>
              <a:rPr sz="900" b="1" i="0">
                <a:solidFill>
                  <a:srgbClr val="FFFFFF"/>
                </a:solidFill>
              </a:rPr>
              <a:t>Git</a:t>
            </a:r>
          </a:p>
        </p:txBody>
      </p:sp>
      <p:sp>
        <p:nvSpPr>
          <p:cNvPr id="24" name="TextBox 23"/>
          <p:cNvSpPr txBox="1"/>
          <p:nvPr/>
        </p:nvSpPr>
        <p:spPr>
          <a:xfrm>
            <a:off x="457200" y="5349240"/>
            <a:ext cx="11274552" cy="822960"/>
          </a:xfrm>
          <a:prstGeom prst="rect">
            <a:avLst/>
          </a:prstGeom>
          <a:noFill/>
        </p:spPr>
        <p:txBody>
          <a:bodyPr wrap="square">
            <a:spAutoFit/>
          </a:bodyPr>
          <a:lstStyle/>
          <a:p>
            <a:pPr algn="ctr"/>
            <a:r>
              <a:rPr sz="850" b="0" i="1">
                <a:solidFill>
                  <a:srgbClr val="546E7A"/>
                </a:solidFill>
              </a:rPr>
              <a:t>⚠  Disclaimer: All AMFI codes and real AUM/SIP figures are from public AMFI India data. NAV values are anchored to real mfapi.in values. Investor transactions are synthetic. This project is for educational purposes only and does not constitute financial advice.</a:t>
            </a:r>
          </a:p>
        </p:txBody>
      </p:sp>
      <p:sp>
        <p:nvSpPr>
          <p:cNvPr id="25" name="TextBox 24"/>
          <p:cNvSpPr txBox="1"/>
          <p:nvPr/>
        </p:nvSpPr>
        <p:spPr>
          <a:xfrm>
            <a:off x="457200" y="6309360"/>
            <a:ext cx="11274552" cy="320040"/>
          </a:xfrm>
          <a:prstGeom prst="rect">
            <a:avLst/>
          </a:prstGeom>
          <a:noFill/>
        </p:spPr>
        <p:txBody>
          <a:bodyPr wrap="square">
            <a:spAutoFit/>
          </a:bodyPr>
          <a:lstStyle/>
          <a:p>
            <a:pPr algn="ctr"/>
            <a:r>
              <a:rPr sz="900" b="0" i="0">
                <a:solidFill>
                  <a:srgbClr val="546E7A"/>
                </a:solidFill>
              </a:rPr>
              <a:t>📊 BLUESTOCK FINTECH  ·  MF Analytics Platform  ·  Data Analyst Internship Capstone 2025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